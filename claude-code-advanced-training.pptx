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1097280"/>
          </a:xfrm>
          <a:prstGeom prst="rect">
            <a:avLst/>
          </a:prstGeom>
          <a:noFill/>
        </p:spPr>
        <p:txBody>
          <a:bodyPr wrap="square">
            <a:spAutoFit/>
          </a:bodyPr>
          <a:lstStyle/>
          <a:p>
            <a:pPr algn="ctr">
              <a:defRPr sz="5200" b="1">
                <a:solidFill>
                  <a:srgbClr val="CDD6F4"/>
                </a:solidFill>
                <a:latin typeface="JetBrains Mono"/>
              </a:defRPr>
            </a:pPr>
            <a:r>
              <a:t>Claude Code</a:t>
            </a:r>
          </a:p>
        </p:txBody>
      </p:sp>
      <p:sp>
        <p:nvSpPr>
          <p:cNvPr id="5" name="TextBox 4"/>
          <p:cNvSpPr txBox="1"/>
          <p:nvPr/>
        </p:nvSpPr>
        <p:spPr>
          <a:xfrm>
            <a:off x="914400" y="2926080"/>
            <a:ext cx="10058400" cy="731520"/>
          </a:xfrm>
          <a:prstGeom prst="rect">
            <a:avLst/>
          </a:prstGeom>
          <a:noFill/>
        </p:spPr>
        <p:txBody>
          <a:bodyPr wrap="square">
            <a:spAutoFit/>
          </a:bodyPr>
          <a:lstStyle/>
          <a:p>
            <a:pPr algn="ctr">
              <a:defRPr sz="3600" b="0">
                <a:solidFill>
                  <a:srgbClr val="CBA6F7"/>
                </a:solidFill>
                <a:latin typeface="JetBrains Mono"/>
              </a:defRPr>
            </a:pPr>
            <a:r>
              <a:t>Advanced Training</a:t>
            </a:r>
          </a:p>
        </p:txBody>
      </p:sp>
      <p:sp>
        <p:nvSpPr>
          <p:cNvPr id="6" name="TextBox 5"/>
          <p:cNvSpPr txBox="1"/>
          <p:nvPr/>
        </p:nvSpPr>
        <p:spPr>
          <a:xfrm>
            <a:off x="914400" y="4572000"/>
            <a:ext cx="10058400" cy="457200"/>
          </a:xfrm>
          <a:prstGeom prst="rect">
            <a:avLst/>
          </a:prstGeom>
          <a:noFill/>
        </p:spPr>
        <p:txBody>
          <a:bodyPr wrap="square">
            <a:spAutoFit/>
          </a:bodyPr>
          <a:lstStyle/>
          <a:p>
            <a:pPr algn="ctr">
              <a:defRPr sz="1800" b="0">
                <a:solidFill>
                  <a:srgbClr val="A6ADC8"/>
                </a:solidFill>
                <a:latin typeface="JetBrains Mono"/>
              </a:defRPr>
            </a:pPr>
            <a:r>
              <a:t>Commands • Workflows • Superpowers • AI Developer 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Agenda</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572000"/>
          </a:xfrm>
          <a:prstGeom prst="rect">
            <a:avLst/>
          </a:prstGeom>
          <a:noFill/>
        </p:spPr>
        <p:txBody>
          <a:bodyPr wrap="square">
            <a:spAutoFit/>
          </a:bodyPr>
          <a:lstStyle/>
          <a:p>
            <a:pPr>
              <a:spcAft>
                <a:spcPts val="1600"/>
              </a:spcAft>
            </a:pPr>
            <a:r>
              <a:rPr sz="2000" b="1">
                <a:solidFill>
                  <a:srgbClr val="FAB387"/>
                </a:solidFill>
                <a:latin typeface="JetBrains Mono"/>
              </a:rPr>
              <a:t>10:00 - 10:30  </a:t>
            </a:r>
            <a:r>
              <a:rPr sz="2000">
                <a:solidFill>
                  <a:srgbClr val="CDD6F4"/>
                </a:solidFill>
                <a:latin typeface="JetBrains Mono"/>
              </a:rPr>
              <a:t>Organization &amp; Orientation</a:t>
            </a:r>
          </a:p>
          <a:p>
            <a:pPr>
              <a:spcAft>
                <a:spcPts val="1600"/>
              </a:spcAft>
            </a:pPr>
            <a:r>
              <a:rPr sz="2000" b="1">
                <a:solidFill>
                  <a:srgbClr val="FAB387"/>
                </a:solidFill>
                <a:latin typeface="JetBrains Mono"/>
              </a:rPr>
              <a:t>10:30 - 12:00  </a:t>
            </a:r>
            <a:r>
              <a:rPr sz="2000">
                <a:solidFill>
                  <a:srgbClr val="CDD6F4"/>
                </a:solidFill>
                <a:latin typeface="JetBrains Mono"/>
              </a:rPr>
              <a:t>Claude Code Advanced Features</a:t>
            </a:r>
          </a:p>
          <a:p>
            <a:pPr>
              <a:spcAft>
                <a:spcPts val="1600"/>
              </a:spcAft>
            </a:pPr>
            <a:r>
              <a:rPr sz="2000" b="1">
                <a:solidFill>
                  <a:srgbClr val="FAB387"/>
                </a:solidFill>
                <a:latin typeface="JetBrains Mono"/>
              </a:rPr>
              <a:t>12:00 - 13:00  </a:t>
            </a:r>
            <a:r>
              <a:rPr sz="2000">
                <a:solidFill>
                  <a:srgbClr val="CDD6F4"/>
                </a:solidFill>
                <a:latin typeface="JetBrains Mono"/>
              </a:rPr>
              <a:t>Lunch</a:t>
            </a:r>
          </a:p>
          <a:p>
            <a:pPr>
              <a:spcAft>
                <a:spcPts val="1600"/>
              </a:spcAft>
            </a:pPr>
            <a:r>
              <a:rPr sz="2000" b="1">
                <a:solidFill>
                  <a:srgbClr val="FAB387"/>
                </a:solidFill>
                <a:latin typeface="JetBrains Mono"/>
              </a:rPr>
              <a:t>13:00 - 14:00  </a:t>
            </a:r>
            <a:r>
              <a:rPr sz="2000">
                <a:solidFill>
                  <a:srgbClr val="CDD6F4"/>
                </a:solidFill>
                <a:latin typeface="JetBrains Mono"/>
              </a:rPr>
              <a:t>CLI Tools vs MCP Servers &amp; Superpowers</a:t>
            </a:r>
          </a:p>
          <a:p>
            <a:pPr>
              <a:spcAft>
                <a:spcPts val="1600"/>
              </a:spcAft>
            </a:pPr>
            <a:r>
              <a:rPr sz="2000" b="1">
                <a:solidFill>
                  <a:srgbClr val="FAB387"/>
                </a:solidFill>
                <a:latin typeface="JetBrains Mono"/>
              </a:rPr>
              <a:t>14:00 - 15:30  </a:t>
            </a:r>
            <a:r>
              <a:rPr sz="2000">
                <a:solidFill>
                  <a:srgbClr val="CDD6F4"/>
                </a:solidFill>
                <a:latin typeface="JetBrains Mono"/>
              </a:rPr>
              <a:t>AI Developer Workflow</a:t>
            </a:r>
          </a:p>
          <a:p>
            <a:pPr>
              <a:spcAft>
                <a:spcPts val="1600"/>
              </a:spcAft>
            </a:pPr>
            <a:r>
              <a:rPr sz="2000" b="1">
                <a:solidFill>
                  <a:srgbClr val="FAB387"/>
                </a:solidFill>
                <a:latin typeface="JetBrains Mono"/>
              </a:rPr>
              <a:t>15:30 - 16:00  </a:t>
            </a:r>
            <a:r>
              <a:rPr sz="2000">
                <a:solidFill>
                  <a:srgbClr val="CDD6F4"/>
                </a:solidFill>
                <a:latin typeface="JetBrains Mono"/>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Where Are You With Claude Code?</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114800"/>
          </a:xfrm>
          <a:prstGeom prst="rect">
            <a:avLst/>
          </a:prstGeom>
          <a:noFill/>
        </p:spPr>
        <p:txBody>
          <a:bodyPr wrap="square">
            <a:spAutoFit/>
          </a:bodyPr>
          <a:lstStyle/>
          <a:p>
            <a:pPr>
              <a:spcAft>
                <a:spcPts val="2000"/>
              </a:spcAft>
            </a:pPr>
            <a:r>
              <a:rPr sz="2000" b="1">
                <a:solidFill>
                  <a:srgbClr val="94E2D5"/>
                </a:solidFill>
                <a:latin typeface="JetBrains Mono"/>
              </a:rPr>
              <a:t>➜ </a:t>
            </a:r>
            <a:r>
              <a:rPr sz="2000">
                <a:solidFill>
                  <a:srgbClr val="CDD6F4"/>
                </a:solidFill>
                <a:latin typeface="JetBrains Mono"/>
              </a:rPr>
              <a:t>How long have you been using Claude Code?</a:t>
            </a:r>
          </a:p>
          <a:p>
            <a:pPr>
              <a:spcAft>
                <a:spcPts val="2000"/>
              </a:spcAft>
            </a:pPr>
            <a:r>
              <a:rPr sz="2000" b="1">
                <a:solidFill>
                  <a:srgbClr val="94E2D5"/>
                </a:solidFill>
                <a:latin typeface="JetBrains Mono"/>
              </a:rPr>
              <a:t>➜ </a:t>
            </a:r>
            <a:r>
              <a:rPr sz="2000">
                <a:solidFill>
                  <a:srgbClr val="CDD6F4"/>
                </a:solidFill>
                <a:latin typeface="JetBrains Mono"/>
              </a:rPr>
              <a:t>What do you use it for daily?</a:t>
            </a:r>
          </a:p>
          <a:p>
            <a:pPr>
              <a:spcAft>
                <a:spcPts val="2000"/>
              </a:spcAft>
            </a:pPr>
            <a:r>
              <a:rPr sz="2000" b="1">
                <a:solidFill>
                  <a:srgbClr val="94E2D5"/>
                </a:solidFill>
                <a:latin typeface="JetBrains Mono"/>
              </a:rPr>
              <a:t>➜ </a:t>
            </a:r>
            <a:r>
              <a:rPr sz="2000">
                <a:solidFill>
                  <a:srgbClr val="CDD6F4"/>
                </a:solidFill>
                <a:latin typeface="JetBrains Mono"/>
              </a:rPr>
              <a:t>Have you customized commands, hooks, or settings?</a:t>
            </a:r>
          </a:p>
          <a:p>
            <a:pPr>
              <a:spcAft>
                <a:spcPts val="2000"/>
              </a:spcAft>
            </a:pPr>
            <a:r>
              <a:rPr sz="2000" b="1">
                <a:solidFill>
                  <a:srgbClr val="94E2D5"/>
                </a:solidFill>
                <a:latin typeface="JetBrains Mono"/>
              </a:rPr>
              <a:t>➜ </a:t>
            </a:r>
            <a:r>
              <a:rPr sz="2000">
                <a:solidFill>
                  <a:srgbClr val="CDD6F4"/>
                </a:solidFill>
                <a:latin typeface="JetBrains Mono"/>
              </a:rPr>
              <a:t>Have you used MCP servers with Claude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What We'll Build Today</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548640"/>
          </a:xfrm>
          <a:prstGeom prst="rect">
            <a:avLst/>
          </a:prstGeom>
          <a:noFill/>
        </p:spPr>
        <p:txBody>
          <a:bodyPr wrap="square">
            <a:spAutoFit/>
          </a:bodyPr>
          <a:lstStyle/>
          <a:p>
            <a:pPr algn="l">
              <a:defRPr sz="2000" b="0">
                <a:solidFill>
                  <a:srgbClr val="BAC2DE"/>
                </a:solidFill>
                <a:latin typeface="JetBrains Mono"/>
              </a:defRPr>
            </a:pPr>
            <a:r>
              <a:t>Tic-Tac-Toe — built four different ways:</a:t>
            </a:r>
          </a:p>
        </p:txBody>
      </p:sp>
      <p:sp>
        <p:nvSpPr>
          <p:cNvPr id="6" name="TextBox 5"/>
          <p:cNvSpPr txBox="1"/>
          <p:nvPr/>
        </p:nvSpPr>
        <p:spPr>
          <a:xfrm>
            <a:off x="731520" y="2011680"/>
            <a:ext cx="10058400" cy="3200400"/>
          </a:xfrm>
          <a:prstGeom prst="rect">
            <a:avLst/>
          </a:prstGeom>
          <a:noFill/>
        </p:spPr>
        <p:txBody>
          <a:bodyPr wrap="square">
            <a:spAutoFit/>
          </a:bodyPr>
          <a:lstStyle/>
          <a:p>
            <a:pPr>
              <a:spcAft>
                <a:spcPts val="2000"/>
              </a:spcAft>
            </a:pPr>
            <a:r>
              <a:rPr sz="2000" b="1">
                <a:solidFill>
                  <a:srgbClr val="A6E3A1"/>
                </a:solidFill>
                <a:latin typeface="JetBrains Mono"/>
              </a:rPr>
              <a:t>1. </a:t>
            </a:r>
            <a:r>
              <a:rPr sz="2000">
                <a:solidFill>
                  <a:srgbClr val="CDD6F4"/>
                </a:solidFill>
                <a:latin typeface="JetBrains Mono"/>
              </a:rPr>
              <a:t>Single HTML page with plan mode &amp; spec-interview</a:t>
            </a:r>
          </a:p>
          <a:p>
            <a:pPr>
              <a:spcAft>
                <a:spcPts val="2000"/>
              </a:spcAft>
            </a:pPr>
            <a:r>
              <a:rPr sz="2000" b="1">
                <a:solidFill>
                  <a:srgbClr val="A6E3A1"/>
                </a:solidFill>
                <a:latin typeface="JetBrains Mono"/>
              </a:rPr>
              <a:t>2. </a:t>
            </a:r>
            <a:r>
              <a:rPr sz="2000">
                <a:solidFill>
                  <a:srgbClr val="CDD6F4"/>
                </a:solidFill>
                <a:latin typeface="JetBrains Mono"/>
              </a:rPr>
              <a:t>Superpowers workflow (brainstorm → plan → execute → review)</a:t>
            </a:r>
          </a:p>
          <a:p>
            <a:pPr>
              <a:spcAft>
                <a:spcPts val="2000"/>
              </a:spcAft>
            </a:pPr>
            <a:r>
              <a:rPr sz="2000" b="1">
                <a:solidFill>
                  <a:srgbClr val="A6E3A1"/>
                </a:solidFill>
                <a:latin typeface="JetBrains Mono"/>
              </a:rPr>
              <a:t>3. </a:t>
            </a:r>
            <a:r>
              <a:rPr sz="2000">
                <a:solidFill>
                  <a:srgbClr val="CDD6F4"/>
                </a:solidFill>
                <a:latin typeface="JetBrains Mono"/>
              </a:rPr>
              <a:t>Rust backend + TypeScript frontend via slash commands</a:t>
            </a:r>
          </a:p>
          <a:p>
            <a:pPr>
              <a:spcAft>
                <a:spcPts val="2000"/>
              </a:spcAft>
            </a:pPr>
            <a:r>
              <a:rPr sz="2000" b="1">
                <a:solidFill>
                  <a:srgbClr val="A6E3A1"/>
                </a:solidFill>
                <a:latin typeface="JetBrains Mono"/>
              </a:rPr>
              <a:t>4. </a:t>
            </a:r>
            <a:r>
              <a:rPr sz="2000">
                <a:solidFill>
                  <a:srgbClr val="CDD6F4"/>
                </a:solidFill>
                <a:latin typeface="JetBrains Mono"/>
              </a:rPr>
              <a:t>Full ADW automation pipeline (isolated worktrees)</a:t>
            </a:r>
          </a:p>
        </p:txBody>
      </p:sp>
      <p:sp>
        <p:nvSpPr>
          <p:cNvPr id="7" name="TextBox 6"/>
          <p:cNvSpPr txBox="1"/>
          <p:nvPr/>
        </p:nvSpPr>
        <p:spPr>
          <a:xfrm>
            <a:off x="731520" y="4572000"/>
            <a:ext cx="10058400" cy="548640"/>
          </a:xfrm>
          <a:prstGeom prst="rect">
            <a:avLst/>
          </a:prstGeom>
          <a:noFill/>
        </p:spPr>
        <p:txBody>
          <a:bodyPr wrap="square">
            <a:spAutoFit/>
          </a:bodyPr>
          <a:lstStyle/>
          <a:p>
            <a:pPr algn="l">
              <a:defRPr sz="1600" b="0">
                <a:solidFill>
                  <a:srgbClr val="9399B2"/>
                </a:solidFill>
                <a:latin typeface="JetBrains Mono"/>
              </a:defRPr>
            </a:pPr>
            <a:r>
              <a:t>Same app, increasing automation → from manual to zero-touch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Prerequisites</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3657600"/>
          </a:xfrm>
          <a:prstGeom prst="rect">
            <a:avLst/>
          </a:prstGeom>
          <a:noFill/>
        </p:spPr>
        <p:txBody>
          <a:bodyPr wrap="square">
            <a:spAutoFit/>
          </a:bodyPr>
          <a:lstStyle/>
          <a:p>
            <a:pPr>
              <a:spcAft>
                <a:spcPts val="1800"/>
              </a:spcAft>
            </a:pPr>
            <a:r>
              <a:rPr sz="2000" b="1">
                <a:solidFill>
                  <a:srgbClr val="A6E3A1"/>
                </a:solidFill>
                <a:latin typeface="JetBrains Mono"/>
              </a:rPr>
              <a:t>✓ </a:t>
            </a:r>
            <a:r>
              <a:rPr sz="2000">
                <a:solidFill>
                  <a:srgbClr val="CDD6F4"/>
                </a:solidFill>
                <a:latin typeface="JetBrains Mono"/>
              </a:rPr>
              <a:t>Claude Code CLI installed and authenticated</a:t>
            </a:r>
          </a:p>
          <a:p>
            <a:pPr>
              <a:spcAft>
                <a:spcPts val="1800"/>
              </a:spcAft>
            </a:pPr>
            <a:r>
              <a:rPr sz="2000" b="1">
                <a:solidFill>
                  <a:srgbClr val="A6E3A1"/>
                </a:solidFill>
                <a:latin typeface="JetBrains Mono"/>
              </a:rPr>
              <a:t>✓ </a:t>
            </a:r>
            <a:r>
              <a:rPr sz="2000">
                <a:solidFill>
                  <a:srgbClr val="CDD6F4"/>
                </a:solidFill>
                <a:latin typeface="JetBrains Mono"/>
              </a:rPr>
              <a:t>Node.js, Rust toolchain, uv (Python)</a:t>
            </a:r>
          </a:p>
          <a:p>
            <a:pPr>
              <a:spcAft>
                <a:spcPts val="1800"/>
              </a:spcAft>
            </a:pPr>
            <a:r>
              <a:rPr sz="2000" b="1">
                <a:solidFill>
                  <a:srgbClr val="A6E3A1"/>
                </a:solidFill>
                <a:latin typeface="JetBrains Mono"/>
              </a:rPr>
              <a:t>✓ </a:t>
            </a:r>
            <a:r>
              <a:rPr sz="2000">
                <a:solidFill>
                  <a:srgbClr val="CDD6F4"/>
                </a:solidFill>
                <a:latin typeface="JetBrains Mono"/>
              </a:rPr>
              <a:t>Familiarity with terminal and git basics</a:t>
            </a:r>
          </a:p>
          <a:p>
            <a:pPr>
              <a:spcAft>
                <a:spcPts val="1800"/>
              </a:spcAft>
            </a:pPr>
            <a:r>
              <a:rPr sz="2000" b="1">
                <a:solidFill>
                  <a:srgbClr val="A6E3A1"/>
                </a:solidFill>
                <a:latin typeface="JetBrains Mono"/>
              </a:rPr>
              <a:t>✓ </a:t>
            </a:r>
            <a:r>
              <a:rPr sz="2000">
                <a:solidFill>
                  <a:srgbClr val="CDD6F4"/>
                </a:solidFill>
                <a:latin typeface="JetBrains Mono"/>
              </a:rPr>
              <a:t>A code editor (VS Code / Cursor / terminal)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4000" b="1">
                <a:solidFill>
                  <a:srgbClr val="CDD6F4"/>
                </a:solidFill>
                <a:latin typeface="JetBrains Mono"/>
              </a:defRPr>
            </a:pPr>
            <a:r>
              <a:t>Claude Code Advanced Features</a:t>
            </a:r>
          </a:p>
        </p:txBody>
      </p:sp>
      <p:sp>
        <p:nvSpPr>
          <p:cNvPr id="5" name="TextBox 4"/>
          <p:cNvSpPr txBox="1"/>
          <p:nvPr/>
        </p:nvSpPr>
        <p:spPr>
          <a:xfrm>
            <a:off x="914400" y="3657600"/>
            <a:ext cx="10058400" cy="548640"/>
          </a:xfrm>
          <a:prstGeom prst="rect">
            <a:avLst/>
          </a:prstGeom>
          <a:noFill/>
        </p:spPr>
        <p:txBody>
          <a:bodyPr wrap="square">
            <a:spAutoFit/>
          </a:bodyPr>
          <a:lstStyle/>
          <a:p>
            <a:pPr algn="ctr">
              <a:defRPr sz="2000" b="0">
                <a:solidFill>
                  <a:srgbClr val="A6ADC8"/>
                </a:solidFill>
                <a:latin typeface="JetBrains Mono"/>
              </a:defRPr>
            </a:pPr>
            <a:r>
              <a:t>Commands • Plan Mode • Skills • Hooks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pic>
        <p:nvPicPr>
          <p:cNvPr id="2" name="Picture 1" descr="core-four-big.png"/>
          <p:cNvPicPr>
            <a:picLocks noChangeAspect="1"/>
          </p:cNvPicPr>
          <p:nvPr/>
        </p:nvPicPr>
        <p:blipFill>
          <a:blip r:embed="rId2"/>
          <a:stretch>
            <a:fillRect/>
          </a:stretch>
        </p:blipFill>
        <p:spPr>
          <a:xfrm>
            <a:off x="2148840" y="457200"/>
            <a:ext cx="7891272" cy="5943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Custom Slash Commands</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Reusable prompt templates stored in .claude/commands/</a:t>
            </a:r>
          </a:p>
        </p:txBody>
      </p:sp>
      <p:sp>
        <p:nvSpPr>
          <p:cNvPr id="6" name="TextBox 5"/>
          <p:cNvSpPr txBox="1"/>
          <p:nvPr/>
        </p:nvSpPr>
        <p:spPr>
          <a:xfrm>
            <a:off x="731520" y="2011680"/>
            <a:ext cx="10058400" cy="2743200"/>
          </a:xfrm>
          <a:prstGeom prst="rect">
            <a:avLst/>
          </a:prstGeom>
          <a:noFill/>
        </p:spPr>
        <p:txBody>
          <a:bodyPr wrap="square">
            <a:spAutoFit/>
          </a:bodyPr>
          <a:lstStyle/>
          <a:p>
            <a:pPr>
              <a:spcAft>
                <a:spcPts val="1400"/>
              </a:spcAft>
            </a:pPr>
            <a:r>
              <a:rPr sz="1800" b="1">
                <a:solidFill>
                  <a:srgbClr val="89B4FA"/>
                </a:solidFill>
                <a:latin typeface="JetBrains Mono"/>
              </a:rPr>
              <a:t>• </a:t>
            </a:r>
            <a:r>
              <a:rPr sz="1800">
                <a:solidFill>
                  <a:srgbClr val="CDD6F4"/>
                </a:solidFill>
                <a:latin typeface="JetBrains Mono"/>
              </a:rPr>
              <a:t>Markdown files with variable injection ($ARGUMENTS)</a:t>
            </a:r>
          </a:p>
          <a:p>
            <a:pPr>
              <a:spcAft>
                <a:spcPts val="1400"/>
              </a:spcAft>
            </a:pPr>
            <a:r>
              <a:rPr sz="1800" b="1">
                <a:solidFill>
                  <a:srgbClr val="89B4FA"/>
                </a:solidFill>
                <a:latin typeface="JetBrains Mono"/>
              </a:rPr>
              <a:t>• </a:t>
            </a:r>
            <a:r>
              <a:rPr sz="1800">
                <a:solidFill>
                  <a:srgbClr val="CDD6F4"/>
                </a:solidFill>
                <a:latin typeface="JetBrains Mono"/>
              </a:rPr>
              <a:t>Invoke with /command-name from Claude Code</a:t>
            </a:r>
          </a:p>
          <a:p>
            <a:pPr>
              <a:spcAft>
                <a:spcPts val="1400"/>
              </a:spcAft>
            </a:pPr>
            <a:r>
              <a:rPr sz="1800" b="1">
                <a:solidFill>
                  <a:srgbClr val="89B4FA"/>
                </a:solidFill>
                <a:latin typeface="JetBrains Mono"/>
              </a:rPr>
              <a:t>• </a:t>
            </a:r>
            <a:r>
              <a:rPr sz="1800">
                <a:solidFill>
                  <a:srgbClr val="CDD6F4"/>
                </a:solidFill>
                <a:latin typeface="JetBrains Mono"/>
              </a:rPr>
              <a:t>Project-local or user-global (~/.claude/commands/)</a:t>
            </a:r>
          </a:p>
          <a:p>
            <a:pPr>
              <a:spcAft>
                <a:spcPts val="1400"/>
              </a:spcAft>
            </a:pPr>
            <a:r>
              <a:rPr sz="1800" b="1">
                <a:solidFill>
                  <a:srgbClr val="89B4FA"/>
                </a:solidFill>
                <a:latin typeface="JetBrains Mono"/>
              </a:rPr>
              <a:t>• </a:t>
            </a:r>
            <a:r>
              <a:rPr sz="1800">
                <a:solidFill>
                  <a:srgbClr val="CDD6F4"/>
                </a:solidFill>
                <a:latin typeface="JetBrains Mono"/>
              </a:rPr>
              <a:t>Can reference other files with @file syntax</a:t>
            </a:r>
          </a:p>
        </p:txBody>
      </p:sp>
      <p:sp>
        <p:nvSpPr>
          <p:cNvPr id="7" name="Rounded Rectangle 6"/>
          <p:cNvSpPr/>
          <p:nvPr/>
        </p:nvSpPr>
        <p:spPr>
          <a:xfrm>
            <a:off x="731520" y="4114800"/>
            <a:ext cx="10515600" cy="2011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400">
                <a:solidFill>
                  <a:srgbClr val="A6E3A1"/>
                </a:solidFill>
                <a:latin typeface="JetBrains Mono"/>
              </a:defRPr>
            </a:pPr>
            <a:r>
              <a:t>.claude/commands/</a:t>
            </a:r>
          </a:p>
          <a:p>
            <a:pPr algn="l">
              <a:spcAft>
                <a:spcPts val="200"/>
              </a:spcAft>
              <a:defRPr sz="1400">
                <a:solidFill>
                  <a:srgbClr val="A6E3A1"/>
                </a:solidFill>
                <a:latin typeface="JetBrains Mono"/>
              </a:defRPr>
            </a:pPr>
            <a:r>
              <a:t>├── feature.md      # /feature - plan a feature</a:t>
            </a:r>
          </a:p>
          <a:p>
            <a:pPr algn="l">
              <a:spcAft>
                <a:spcPts val="200"/>
              </a:spcAft>
              <a:defRPr sz="1400">
                <a:solidFill>
                  <a:srgbClr val="A6E3A1"/>
                </a:solidFill>
                <a:latin typeface="JetBrains Mono"/>
              </a:defRPr>
            </a:pPr>
            <a:r>
              <a:t>├── implement.md    # /implement - build from plan</a:t>
            </a:r>
          </a:p>
          <a:p>
            <a:pPr algn="l">
              <a:spcAft>
                <a:spcPts val="200"/>
              </a:spcAft>
              <a:defRPr sz="1400">
                <a:solidFill>
                  <a:srgbClr val="A6E3A1"/>
                </a:solidFill>
                <a:latin typeface="JetBrains Mono"/>
              </a:defRPr>
            </a:pPr>
            <a:r>
              <a:t>├── test.md         # /test - run validation suite</a:t>
            </a:r>
          </a:p>
          <a:p>
            <a:pPr algn="l">
              <a:spcAft>
                <a:spcPts val="200"/>
              </a:spcAft>
              <a:defRPr sz="1400">
                <a:solidFill>
                  <a:srgbClr val="A6E3A1"/>
                </a:solidFill>
                <a:latin typeface="JetBrains Mono"/>
              </a:defRPr>
            </a:pPr>
            <a:r>
              <a:t>├── review.md       # /review - review against spec</a:t>
            </a:r>
          </a:p>
          <a:p>
            <a:pPr algn="l">
              <a:spcAft>
                <a:spcPts val="200"/>
              </a:spcAft>
              <a:defRPr sz="1400">
                <a:solidFill>
                  <a:srgbClr val="A6E3A1"/>
                </a:solidFill>
                <a:latin typeface="JetBrains Mono"/>
              </a:defRPr>
            </a:pPr>
            <a:r>
              <a:t>└── document.md     # /document - generate docs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Anatomy of a Slash Command</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0"/>
            <a:ext cx="5303520" cy="47548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 Patch Plan</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Variables</a:t>
            </a:r>
          </a:p>
          <a:p>
            <a:pPr algn="l">
              <a:spcAft>
                <a:spcPts val="200"/>
              </a:spcAft>
              <a:defRPr sz="1500">
                <a:solidFill>
                  <a:srgbClr val="A6E3A1"/>
                </a:solidFill>
                <a:latin typeface="JetBrains Mono"/>
              </a:defRPr>
            </a:pPr>
            <a:r>
              <a:t>adw_id: $1</a:t>
            </a:r>
          </a:p>
          <a:p>
            <a:pPr algn="l">
              <a:spcAft>
                <a:spcPts val="200"/>
              </a:spcAft>
              <a:defRPr sz="1500">
                <a:solidFill>
                  <a:srgbClr val="A6E3A1"/>
                </a:solidFill>
                <a:latin typeface="JetBrains Mono"/>
              </a:defRPr>
            </a:pPr>
            <a:r>
              <a:t>...</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Instructions</a:t>
            </a:r>
          </a:p>
          <a:p>
            <a:pPr algn="l">
              <a:spcAft>
                <a:spcPts val="200"/>
              </a:spcAft>
              <a:defRPr sz="1500">
                <a:solidFill>
                  <a:srgbClr val="A6E3A1"/>
                </a:solidFill>
                <a:latin typeface="JetBrains Mono"/>
              </a:defRPr>
            </a:pPr>
            <a:r>
              <a:t>- IMPORTANT: You're creating</a:t>
            </a:r>
          </a:p>
          <a:p>
            <a:pPr algn="l">
              <a:spcAft>
                <a:spcPts val="200"/>
              </a:spcAft>
              <a:defRPr sz="1500">
                <a:solidFill>
                  <a:srgbClr val="A6E3A1"/>
                </a:solidFill>
                <a:latin typeface="JetBrains Mono"/>
              </a:defRPr>
            </a:pPr>
            <a:r>
              <a:t>  a patch plan to fix a</a:t>
            </a:r>
          </a:p>
          <a:p>
            <a:pPr algn="l">
              <a:spcAft>
                <a:spcPts val="200"/>
              </a:spcAft>
              <a:defRPr sz="1500">
                <a:solidFill>
                  <a:srgbClr val="A6E3A1"/>
                </a:solidFill>
                <a:latin typeface="JetBrains Mono"/>
              </a:defRPr>
            </a:pPr>
            <a:r>
              <a:t>  specific review issue.</a:t>
            </a:r>
          </a:p>
          <a:p>
            <a:pPr algn="l">
              <a:spcAft>
                <a:spcPts val="200"/>
              </a:spcAft>
              <a:defRPr sz="1500">
                <a:solidFill>
                  <a:srgbClr val="A6E3A1"/>
                </a:solidFill>
                <a:latin typeface="JetBrains Mono"/>
              </a:defRPr>
            </a:pPr>
            <a:r>
              <a:t>  Keep changes small,</a:t>
            </a:r>
          </a:p>
          <a:p>
            <a:pPr algn="l">
              <a:spcAft>
                <a:spcPts val="200"/>
              </a:spcAft>
              <a:defRPr sz="1500">
                <a:solidFill>
                  <a:srgbClr val="A6E3A1"/>
                </a:solidFill>
                <a:latin typeface="JetBrains Mono"/>
              </a:defRPr>
            </a:pPr>
            <a:r>
              <a:t>  focused, and targeted</a:t>
            </a:r>
          </a:p>
          <a:p>
            <a:pPr algn="l">
              <a:spcAft>
                <a:spcPts val="200"/>
              </a:spcAft>
              <a:defRPr sz="1500">
                <a:solidFill>
                  <a:srgbClr val="A6E3A1"/>
                </a:solidFill>
                <a:latin typeface="JetBrains Mono"/>
              </a:defRPr>
            </a:pPr>
            <a:r>
              <a:t>...</a:t>
            </a:r>
          </a:p>
        </p:txBody>
      </p:sp>
      <p:sp>
        <p:nvSpPr>
          <p:cNvPr id="6" name="Rounded Rectangle 5"/>
          <p:cNvSpPr/>
          <p:nvPr/>
        </p:nvSpPr>
        <p:spPr>
          <a:xfrm>
            <a:off x="6309360" y="1280160"/>
            <a:ext cx="5303520" cy="47548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 Relevant Files</a:t>
            </a:r>
          </a:p>
          <a:p>
            <a:pPr algn="l">
              <a:spcAft>
                <a:spcPts val="200"/>
              </a:spcAft>
              <a:defRPr sz="1500">
                <a:solidFill>
                  <a:srgbClr val="A6E3A1"/>
                </a:solidFill>
                <a:latin typeface="JetBrains Mono"/>
              </a:defRPr>
            </a:pPr>
            <a:r>
              <a:t>...</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Plan Format</a:t>
            </a:r>
          </a:p>
          <a:p>
            <a:pPr algn="l">
              <a:spcAft>
                <a:spcPts val="200"/>
              </a:spcAft>
              <a:defRPr sz="1500">
                <a:solidFill>
                  <a:srgbClr val="A6E3A1"/>
                </a:solidFill>
                <a:latin typeface="JetBrains Mono"/>
              </a:defRPr>
            </a:pPr>
            <a:r>
              <a:t>...</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Report</a:t>
            </a:r>
          </a:p>
          <a:p>
            <a:pPr algn="l">
              <a:spcAft>
                <a:spcPts val="200"/>
              </a:spcAft>
              <a:defRPr sz="1500">
                <a:solidFill>
                  <a:srgbClr val="A6E3A1"/>
                </a:solidFill>
                <a:latin typeface="JetBrains Mono"/>
              </a:defRPr>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Key Commands in This Repo</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5029200" cy="4114800"/>
          </a:xfrm>
          <a:prstGeom prst="rect">
            <a:avLst/>
          </a:prstGeom>
          <a:noFill/>
        </p:spPr>
        <p:txBody>
          <a:bodyPr wrap="square">
            <a:spAutoFit/>
          </a:bodyPr>
          <a:lstStyle/>
          <a:p>
            <a:pPr>
              <a:spcAft>
                <a:spcPts val="1800"/>
              </a:spcAft>
            </a:pPr>
            <a:r>
              <a:rPr sz="1700" b="1">
                <a:solidFill>
                  <a:srgbClr val="74C7EC"/>
                </a:solidFill>
                <a:latin typeface="JetBrains Mono"/>
              </a:rPr>
              <a:t>/feature</a:t>
            </a:r>
            <a:r>
              <a:rPr sz="1700">
                <a:solidFill>
                  <a:srgbClr val="CDD6F4"/>
                </a:solidFill>
                <a:latin typeface="JetBrains Mono"/>
              </a:rPr>
              <a:t>  Plan a new feature from requirements</a:t>
            </a:r>
          </a:p>
          <a:p>
            <a:pPr>
              <a:spcAft>
                <a:spcPts val="1800"/>
              </a:spcAft>
            </a:pPr>
            <a:r>
              <a:rPr sz="1700" b="1">
                <a:solidFill>
                  <a:srgbClr val="74C7EC"/>
                </a:solidFill>
                <a:latin typeface="JetBrains Mono"/>
              </a:rPr>
              <a:t>/implement</a:t>
            </a:r>
            <a:r>
              <a:rPr sz="1700">
                <a:solidFill>
                  <a:srgbClr val="CDD6F4"/>
                </a:solidFill>
                <a:latin typeface="JetBrains Mono"/>
              </a:rPr>
              <a:t>  Execute an implementation plan</a:t>
            </a:r>
          </a:p>
          <a:p>
            <a:pPr>
              <a:spcAft>
                <a:spcPts val="1800"/>
              </a:spcAft>
            </a:pPr>
            <a:r>
              <a:rPr sz="1700" b="1">
                <a:solidFill>
                  <a:srgbClr val="74C7EC"/>
                </a:solidFill>
                <a:latin typeface="JetBrains Mono"/>
              </a:rPr>
              <a:t>/test</a:t>
            </a:r>
            <a:r>
              <a:rPr sz="1700">
                <a:solidFill>
                  <a:srgbClr val="CDD6F4"/>
                </a:solidFill>
                <a:latin typeface="JetBrains Mono"/>
              </a:rPr>
              <a:t>  Run full validation test suite</a:t>
            </a:r>
          </a:p>
          <a:p>
            <a:pPr>
              <a:spcAft>
                <a:spcPts val="1800"/>
              </a:spcAft>
            </a:pPr>
            <a:r>
              <a:rPr sz="1700" b="1">
                <a:solidFill>
                  <a:srgbClr val="74C7EC"/>
                </a:solidFill>
                <a:latin typeface="JetBrains Mono"/>
              </a:rPr>
              <a:t>/install</a:t>
            </a:r>
            <a:r>
              <a:rPr sz="1700">
                <a:solidFill>
                  <a:srgbClr val="CDD6F4"/>
                </a:solidFill>
                <a:latin typeface="JetBrains Mono"/>
              </a:rPr>
              <a:t>  Install all required tools for development</a:t>
            </a:r>
          </a:p>
        </p:txBody>
      </p:sp>
      <p:sp>
        <p:nvSpPr>
          <p:cNvPr id="6" name="TextBox 5"/>
          <p:cNvSpPr txBox="1"/>
          <p:nvPr/>
        </p:nvSpPr>
        <p:spPr>
          <a:xfrm>
            <a:off x="6217920" y="1280160"/>
            <a:ext cx="5029200" cy="4114800"/>
          </a:xfrm>
          <a:prstGeom prst="rect">
            <a:avLst/>
          </a:prstGeom>
          <a:noFill/>
        </p:spPr>
        <p:txBody>
          <a:bodyPr wrap="square">
            <a:spAutoFit/>
          </a:bodyPr>
          <a:lstStyle/>
          <a:p>
            <a:pPr>
              <a:spcAft>
                <a:spcPts val="1800"/>
              </a:spcAft>
            </a:pPr>
            <a:r>
              <a:rPr sz="1700" b="1">
                <a:solidFill>
                  <a:srgbClr val="74C7EC"/>
                </a:solidFill>
                <a:latin typeface="JetBrains Mono"/>
              </a:rPr>
              <a:t>/review</a:t>
            </a:r>
            <a:r>
              <a:rPr sz="1700">
                <a:solidFill>
                  <a:srgbClr val="CDD6F4"/>
                </a:solidFill>
                <a:latin typeface="JetBrains Mono"/>
              </a:rPr>
              <a:t>  Review code against the spec</a:t>
            </a:r>
          </a:p>
          <a:p>
            <a:pPr>
              <a:spcAft>
                <a:spcPts val="1800"/>
              </a:spcAft>
            </a:pPr>
            <a:r>
              <a:rPr sz="1700" b="1">
                <a:solidFill>
                  <a:srgbClr val="74C7EC"/>
                </a:solidFill>
                <a:latin typeface="JetBrains Mono"/>
              </a:rPr>
              <a:t>/document</a:t>
            </a:r>
            <a:r>
              <a:rPr sz="1700">
                <a:solidFill>
                  <a:srgbClr val="CDD6F4"/>
                </a:solidFill>
                <a:latin typeface="JetBrains Mono"/>
              </a:rPr>
              <a:t>  Generate markdown documentation</a:t>
            </a:r>
          </a:p>
          <a:p>
            <a:pPr>
              <a:spcAft>
                <a:spcPts val="1800"/>
              </a:spcAft>
            </a:pPr>
            <a:r>
              <a:rPr sz="1700" b="1">
                <a:solidFill>
                  <a:srgbClr val="74C7EC"/>
                </a:solidFill>
                <a:latin typeface="JetBrains Mono"/>
              </a:rPr>
              <a:t>/commit</a:t>
            </a:r>
            <a:r>
              <a:rPr sz="1700">
                <a:solidFill>
                  <a:srgbClr val="CDD6F4"/>
                </a:solidFill>
                <a:latin typeface="JetBrains Mono"/>
              </a:rPr>
              <a:t>  Create semantic git commits</a:t>
            </a:r>
          </a:p>
        </p:txBody>
      </p:sp>
      <p:sp>
        <p:nvSpPr>
          <p:cNvPr id="7" name="TextBox 6"/>
          <p:cNvSpPr txBox="1"/>
          <p:nvPr/>
        </p:nvSpPr>
        <p:spPr>
          <a:xfrm>
            <a:off x="731520" y="5029200"/>
            <a:ext cx="10058400" cy="548640"/>
          </a:xfrm>
          <a:prstGeom prst="rect">
            <a:avLst/>
          </a:prstGeom>
          <a:noFill/>
        </p:spPr>
        <p:txBody>
          <a:bodyPr wrap="square">
            <a:spAutoFit/>
          </a:bodyPr>
          <a:lstStyle/>
          <a:p>
            <a:pPr algn="l">
              <a:defRPr sz="1600" b="0">
                <a:solidFill>
                  <a:srgbClr val="9399B2"/>
                </a:solidFill>
                <a:latin typeface="JetBrains Mono"/>
              </a:defRPr>
            </a:pPr>
            <a:r>
              <a:t>27 commands total — covering the entire SDLC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Plan Mode</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2743200"/>
          </a:xfrm>
          <a:prstGeom prst="rect">
            <a:avLst/>
          </a:prstGeom>
          <a:noFill/>
        </p:spPr>
        <p:txBody>
          <a:bodyPr wrap="square">
            <a:spAutoFit/>
          </a:bodyPr>
          <a:lstStyle/>
          <a:p>
            <a:pPr>
              <a:spcAft>
                <a:spcPts val="1600"/>
              </a:spcAft>
            </a:pPr>
            <a:r>
              <a:rPr sz="1800" b="1">
                <a:solidFill>
                  <a:srgbClr val="89B4FA"/>
                </a:solidFill>
                <a:latin typeface="JetBrains Mono"/>
              </a:rPr>
              <a:t>• </a:t>
            </a:r>
            <a:r>
              <a:rPr sz="1800">
                <a:solidFill>
                  <a:srgbClr val="CDD6F4"/>
                </a:solidFill>
                <a:latin typeface="JetBrains Mono"/>
              </a:rPr>
              <a:t>Dedicated mode for thinking before doing</a:t>
            </a:r>
          </a:p>
          <a:p>
            <a:pPr>
              <a:spcAft>
                <a:spcPts val="1600"/>
              </a:spcAft>
            </a:pPr>
            <a:r>
              <a:rPr sz="1800" b="1">
                <a:solidFill>
                  <a:srgbClr val="89B4FA"/>
                </a:solidFill>
                <a:latin typeface="JetBrains Mono"/>
              </a:rPr>
              <a:t>• </a:t>
            </a:r>
            <a:r>
              <a:rPr sz="1800">
                <a:solidFill>
                  <a:srgbClr val="CDD6F4"/>
                </a:solidFill>
                <a:latin typeface="JetBrains Mono"/>
              </a:rPr>
              <a:t>Claude explores, analyzes, and writes plans — no code changes</a:t>
            </a:r>
          </a:p>
          <a:p>
            <a:pPr>
              <a:spcAft>
                <a:spcPts val="1600"/>
              </a:spcAft>
            </a:pPr>
            <a:r>
              <a:rPr sz="1800" b="1">
                <a:solidFill>
                  <a:srgbClr val="89B4FA"/>
                </a:solidFill>
                <a:latin typeface="JetBrains Mono"/>
              </a:rPr>
              <a:t>• </a:t>
            </a:r>
            <a:r>
              <a:rPr sz="1800">
                <a:solidFill>
                  <a:srgbClr val="CDD6F4"/>
                </a:solidFill>
                <a:latin typeface="JetBrains Mono"/>
              </a:rPr>
              <a:t>Toggle with /plan or Shift+Tab</a:t>
            </a:r>
          </a:p>
          <a:p>
            <a:pPr>
              <a:spcAft>
                <a:spcPts val="1600"/>
              </a:spcAft>
            </a:pPr>
            <a:r>
              <a:rPr sz="1800" b="1">
                <a:solidFill>
                  <a:srgbClr val="89B4FA"/>
                </a:solidFill>
                <a:latin typeface="JetBrains Mono"/>
              </a:rPr>
              <a:t>• </a:t>
            </a:r>
            <a:r>
              <a:rPr sz="1800">
                <a:solidFill>
                  <a:srgbClr val="CDD6F4"/>
                </a:solidFill>
                <a:latin typeface="JetBrains Mono"/>
              </a:rPr>
              <a:t>Output: structured plan files in markdown</a:t>
            </a:r>
          </a:p>
        </p:txBody>
      </p:sp>
      <p:sp>
        <p:nvSpPr>
          <p:cNvPr id="6" name="Rounded Rectangle 5"/>
          <p:cNvSpPr/>
          <p:nvPr/>
        </p:nvSpPr>
        <p:spPr>
          <a:xfrm>
            <a:off x="731520" y="3657600"/>
            <a:ext cx="10515600" cy="228600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&gt; /plan Create a simple tic-tac-toe game. Create only a single html page named tic-tac-toe.html. Write the plan to tic-tac-toe-plan.md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Action Pack 1: Planning</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2286000"/>
          </a:xfrm>
          <a:prstGeom prst="rect">
            <a:avLst/>
          </a:prstGeom>
          <a:noFill/>
        </p:spPr>
        <p:txBody>
          <a:bodyPr wrap="square">
            <a:spAutoFit/>
          </a:bodyPr>
          <a:lstStyle/>
          <a:p>
            <a:pPr>
              <a:spcAft>
                <a:spcPts val="2000"/>
              </a:spcAft>
            </a:pPr>
            <a:r>
              <a:rPr sz="2000" b="1">
                <a:solidFill>
                  <a:srgbClr val="FAB387"/>
                </a:solidFill>
                <a:latin typeface="JetBrains Mono"/>
              </a:rPr>
              <a:t>Step 1  </a:t>
            </a:r>
            <a:r>
              <a:rPr sz="2000">
                <a:solidFill>
                  <a:srgbClr val="CDD6F4"/>
                </a:solidFill>
                <a:latin typeface="JetBrains Mono"/>
              </a:rPr>
              <a:t>Plan tic-tac-toe in plan mode</a:t>
            </a:r>
          </a:p>
          <a:p>
            <a:pPr>
              <a:spcAft>
                <a:spcPts val="2000"/>
              </a:spcAft>
            </a:pPr>
            <a:r>
              <a:rPr sz="2000" b="1">
                <a:solidFill>
                  <a:srgbClr val="FAB387"/>
                </a:solidFill>
                <a:latin typeface="JetBrains Mono"/>
              </a:rPr>
              <a:t>Step 2  </a:t>
            </a:r>
            <a:r>
              <a:rPr sz="2000">
                <a:solidFill>
                  <a:srgbClr val="CDD6F4"/>
                </a:solidFill>
                <a:latin typeface="JetBrains Mono"/>
              </a:rPr>
              <a:t>Refine with /spec-interview</a:t>
            </a:r>
          </a:p>
          <a:p>
            <a:pPr>
              <a:spcAft>
                <a:spcPts val="2000"/>
              </a:spcAft>
            </a:pPr>
            <a:r>
              <a:rPr sz="2000" b="1">
                <a:solidFill>
                  <a:srgbClr val="FAB387"/>
                </a:solidFill>
                <a:latin typeface="JetBrains Mono"/>
              </a:rPr>
              <a:t>Step 3  </a:t>
            </a:r>
            <a:r>
              <a:rPr sz="2000">
                <a:solidFill>
                  <a:srgbClr val="CDD6F4"/>
                </a:solidFill>
                <a:latin typeface="JetBrains Mono"/>
              </a:rPr>
              <a:t>Implement the improved spec</a:t>
            </a:r>
          </a:p>
        </p:txBody>
      </p:sp>
      <p:sp>
        <p:nvSpPr>
          <p:cNvPr id="7" name="Rounded Rectangle 6"/>
          <p:cNvSpPr/>
          <p:nvPr/>
        </p:nvSpPr>
        <p:spPr>
          <a:xfrm>
            <a:off x="731520" y="3657600"/>
            <a:ext cx="10515600" cy="182880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/spec-interview current plan. ask only three questions</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After answering questions:</a:t>
            </a:r>
          </a:p>
          <a:p>
            <a:pPr algn="l">
              <a:spcAft>
                <a:spcPts val="200"/>
              </a:spcAft>
              <a:defRPr sz="1500">
                <a:solidFill>
                  <a:srgbClr val="A6E3A1"/>
                </a:solidFill>
                <a:latin typeface="JetBrains Mono"/>
              </a:defRPr>
            </a:pPr>
            <a:r>
              <a:t>Implement the new spec and create tic-tac-toe-improved.html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Skills — Extending Claude's Capabilities</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2743200"/>
          </a:xfrm>
          <a:prstGeom prst="rect">
            <a:avLst/>
          </a:prstGeom>
          <a:noFill/>
        </p:spPr>
        <p:txBody>
          <a:bodyPr wrap="square">
            <a:spAutoFit/>
          </a:bodyPr>
          <a:lstStyle/>
          <a:p>
            <a:pPr>
              <a:spcAft>
                <a:spcPts val="1400"/>
              </a:spcAft>
            </a:pPr>
            <a:r>
              <a:rPr sz="1800" b="1">
                <a:solidFill>
                  <a:srgbClr val="89B4FA"/>
                </a:solidFill>
                <a:latin typeface="JetBrains Mono"/>
              </a:rPr>
              <a:t>• </a:t>
            </a:r>
            <a:r>
              <a:rPr sz="1800">
                <a:solidFill>
                  <a:srgbClr val="CDD6F4"/>
                </a:solidFill>
                <a:latin typeface="JetBrains Mono"/>
              </a:rPr>
              <a:t>Reusable instructions that Claude can invoke</a:t>
            </a:r>
          </a:p>
          <a:p>
            <a:pPr>
              <a:spcAft>
                <a:spcPts val="1400"/>
              </a:spcAft>
            </a:pPr>
            <a:r>
              <a:rPr sz="1800" b="1">
                <a:solidFill>
                  <a:srgbClr val="89B4FA"/>
                </a:solidFill>
                <a:latin typeface="JetBrains Mono"/>
              </a:rPr>
              <a:t>• </a:t>
            </a:r>
            <a:r>
              <a:rPr sz="1800">
                <a:solidFill>
                  <a:srgbClr val="CDD6F4"/>
                </a:solidFill>
                <a:latin typeface="JetBrains Mono"/>
              </a:rPr>
              <a:t>Stored in .claude/skills/ with a SKILL.md file</a:t>
            </a:r>
          </a:p>
          <a:p>
            <a:pPr>
              <a:spcAft>
                <a:spcPts val="1400"/>
              </a:spcAft>
            </a:pPr>
            <a:r>
              <a:rPr sz="1800" b="1">
                <a:solidFill>
                  <a:srgbClr val="89B4FA"/>
                </a:solidFill>
                <a:latin typeface="JetBrains Mono"/>
              </a:rPr>
              <a:t>• </a:t>
            </a:r>
            <a:r>
              <a:rPr sz="1800">
                <a:solidFill>
                  <a:srgbClr val="CDD6F4"/>
                </a:solidFill>
                <a:latin typeface="JetBrains Mono"/>
              </a:rPr>
              <a:t>Can be auto-loaded or manually triggered</a:t>
            </a:r>
          </a:p>
          <a:p>
            <a:pPr>
              <a:spcAft>
                <a:spcPts val="1400"/>
              </a:spcAft>
            </a:pPr>
            <a:r>
              <a:rPr sz="1800" b="1">
                <a:solidFill>
                  <a:srgbClr val="89B4FA"/>
                </a:solidFill>
                <a:latin typeface="JetBrains Mono"/>
              </a:rPr>
              <a:t>• </a:t>
            </a:r>
            <a:r>
              <a:rPr sz="1800">
                <a:solidFill>
                  <a:srgbClr val="CDD6F4"/>
                </a:solidFill>
                <a:latin typeface="JetBrains Mono"/>
              </a:rPr>
              <a:t>Great for enforcing patterns, validation rules, coding standards</a:t>
            </a:r>
          </a:p>
        </p:txBody>
      </p:sp>
      <p:sp>
        <p:nvSpPr>
          <p:cNvPr id="6" name="Rounded Rectangle 5"/>
          <p:cNvSpPr/>
          <p:nvPr/>
        </p:nvSpPr>
        <p:spPr>
          <a:xfrm>
            <a:off x="731520" y="3657600"/>
            <a:ext cx="10515600" cy="256032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400">
                <a:solidFill>
                  <a:srgbClr val="A6E3A1"/>
                </a:solidFill>
                <a:latin typeface="JetBrains Mono"/>
              </a:defRPr>
            </a:pPr>
            <a:r>
              <a:t># .claude/skills/html-validator/SKILL.md</a:t>
            </a:r>
          </a:p>
          <a:p>
            <a:pPr algn="l">
              <a:spcAft>
                <a:spcPts val="200"/>
              </a:spcAft>
              <a:defRPr sz="1400">
                <a:solidFill>
                  <a:srgbClr val="A6E3A1"/>
                </a:solidFill>
                <a:latin typeface="JetBrains Mono"/>
              </a:defRPr>
            </a:pPr>
            <a:r>
              <a:t>---</a:t>
            </a:r>
          </a:p>
          <a:p>
            <a:pPr algn="l">
              <a:spcAft>
                <a:spcPts val="200"/>
              </a:spcAft>
              <a:defRPr sz="1400">
                <a:solidFill>
                  <a:srgbClr val="A6E3A1"/>
                </a:solidFill>
                <a:latin typeface="JetBrains Mono"/>
              </a:defRPr>
            </a:pPr>
            <a:r>
              <a:t>disable-model-invocation: true</a:t>
            </a:r>
          </a:p>
          <a:p>
            <a:pPr algn="l">
              <a:spcAft>
                <a:spcPts val="200"/>
              </a:spcAft>
              <a:defRPr sz="1400">
                <a:solidFill>
                  <a:srgbClr val="A6E3A1"/>
                </a:solidFill>
                <a:latin typeface="JetBrains Mono"/>
              </a:defRPr>
            </a:pPr>
            <a:r>
              <a:t>---</a:t>
            </a:r>
          </a:p>
          <a:p>
            <a:pPr algn="l">
              <a:spcAft>
                <a:spcPts val="200"/>
              </a:spcAft>
              <a:defRPr sz="1400">
                <a:solidFill>
                  <a:srgbClr val="A6E3A1"/>
                </a:solidFill>
                <a:latin typeface="JetBrains Mono"/>
              </a:defRPr>
            </a:pPr>
            <a:r>
              <a:t>Analyze HTML code for:</a:t>
            </a:r>
          </a:p>
          <a:p>
            <a:pPr algn="l">
              <a:spcAft>
                <a:spcPts val="200"/>
              </a:spcAft>
              <a:defRPr sz="1400">
                <a:solidFill>
                  <a:srgbClr val="A6E3A1"/>
                </a:solidFill>
                <a:latin typeface="JetBrains Mono"/>
              </a:defRPr>
            </a:pPr>
            <a:r>
              <a:t>- Document structure (DOCTYPE, meta tags)</a:t>
            </a:r>
          </a:p>
          <a:p>
            <a:pPr algn="l">
              <a:spcAft>
                <a:spcPts val="200"/>
              </a:spcAft>
              <a:defRPr sz="1400">
                <a:solidFill>
                  <a:srgbClr val="A6E3A1"/>
                </a:solidFill>
                <a:latin typeface="JetBrains Mono"/>
              </a:defRPr>
            </a:pPr>
            <a:r>
              <a:t>- Accessibility (alt text, ARIA, landmarks)</a:t>
            </a:r>
          </a:p>
          <a:p>
            <a:pPr algn="l">
              <a:spcAft>
                <a:spcPts val="200"/>
              </a:spcAft>
              <a:defRPr sz="1400">
                <a:solidFill>
                  <a:srgbClr val="A6E3A1"/>
                </a:solidFill>
                <a:latin typeface="JetBrains Mono"/>
              </a:defRPr>
            </a:pPr>
            <a:r>
              <a:t>- Semantic HTML and heading hierarchy</a:t>
            </a:r>
          </a:p>
          <a:p>
            <a:pPr algn="l">
              <a:spcAft>
                <a:spcPts val="200"/>
              </a:spcAft>
              <a:defRPr sz="1400">
                <a:solidFill>
                  <a:srgbClr val="A6E3A1"/>
                </a:solidFill>
                <a:latin typeface="JetBrains Mono"/>
              </a:defRPr>
            </a:pPr>
            <a:r>
              <a:t>Output: JSON with issues list and severity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The Problem With AI-Generated Code</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i-training-problem.png"/>
          <p:cNvPicPr>
            <a:picLocks noChangeAspect="1"/>
          </p:cNvPicPr>
          <p:nvPr/>
        </p:nvPicPr>
        <p:blipFill>
          <a:blip r:embed="rId2"/>
          <a:stretch>
            <a:fillRect/>
          </a:stretch>
        </p:blipFill>
        <p:spPr>
          <a:xfrm>
            <a:off x="2286000" y="1188720"/>
            <a:ext cx="7315200" cy="5029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Creating a Skill</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Using /skill-creator to build an HTML validation skill</a:t>
            </a:r>
          </a:p>
        </p:txBody>
      </p:sp>
      <p:sp>
        <p:nvSpPr>
          <p:cNvPr id="7" name="Rounded Rectangle 6"/>
          <p:cNvSpPr/>
          <p:nvPr/>
        </p:nvSpPr>
        <p:spPr>
          <a:xfrm>
            <a:off x="731520" y="2194560"/>
            <a:ext cx="10515600" cy="320040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/skill-creator Create local skill that can validate any html based code. It should do code analysis only. Output should be json document which contains list of issues found, nothing else. Set up eval test cases to verify the skill works well. Add `disable-model-invocation: true` frontmatter to prevent this skill to autoload.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Practice: Action Pack 1</a:t>
            </a:r>
          </a:p>
        </p:txBody>
      </p:sp>
      <p:sp>
        <p:nvSpPr>
          <p:cNvPr id="4" name="Rectangle 3"/>
          <p:cNvSpPr/>
          <p:nvPr/>
        </p:nvSpPr>
        <p:spPr>
          <a:xfrm>
            <a:off x="548640" y="960120"/>
            <a:ext cx="2743200" cy="36576"/>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548640"/>
          </a:xfrm>
          <a:prstGeom prst="rect">
            <a:avLst/>
          </a:prstGeom>
          <a:noFill/>
        </p:spPr>
        <p:txBody>
          <a:bodyPr wrap="square">
            <a:spAutoFit/>
          </a:bodyPr>
          <a:lstStyle/>
          <a:p>
            <a:pPr algn="l">
              <a:defRPr sz="2200" b="1">
                <a:solidFill>
                  <a:srgbClr val="FAB387"/>
                </a:solidFill>
                <a:latin typeface="JetBrains Mono"/>
              </a:defRPr>
            </a:pPr>
            <a:r>
              <a:t>Try it yourself!</a:t>
            </a:r>
          </a:p>
        </p:txBody>
      </p:sp>
      <p:sp>
        <p:nvSpPr>
          <p:cNvPr id="6" name="TextBox 5"/>
          <p:cNvSpPr txBox="1"/>
          <p:nvPr/>
        </p:nvSpPr>
        <p:spPr>
          <a:xfrm>
            <a:off x="731520" y="2194560"/>
            <a:ext cx="10058400" cy="3657600"/>
          </a:xfrm>
          <a:prstGeom prst="rect">
            <a:avLst/>
          </a:prstGeom>
          <a:noFill/>
        </p:spPr>
        <p:txBody>
          <a:bodyPr wrap="square">
            <a:spAutoFit/>
          </a:bodyPr>
          <a:lstStyle/>
          <a:p>
            <a:pPr>
              <a:spcAft>
                <a:spcPts val="2000"/>
              </a:spcAft>
            </a:pPr>
            <a:r>
              <a:rPr sz="2000" b="1">
                <a:solidFill>
                  <a:srgbClr val="A6E3A1"/>
                </a:solidFill>
                <a:latin typeface="JetBrains Mono"/>
              </a:rPr>
              <a:t>1. </a:t>
            </a:r>
            <a:r>
              <a:rPr sz="2000">
                <a:solidFill>
                  <a:srgbClr val="CDD6F4"/>
                </a:solidFill>
                <a:latin typeface="JetBrains Mono"/>
              </a:rPr>
              <a:t>Enter plan mode and plan a tic-tac-toe game</a:t>
            </a:r>
          </a:p>
          <a:p>
            <a:pPr>
              <a:spcAft>
                <a:spcPts val="2000"/>
              </a:spcAft>
            </a:pPr>
            <a:r>
              <a:rPr sz="2000" b="1">
                <a:solidFill>
                  <a:srgbClr val="A6E3A1"/>
                </a:solidFill>
                <a:latin typeface="JetBrains Mono"/>
              </a:rPr>
              <a:t>2. </a:t>
            </a:r>
            <a:r>
              <a:rPr sz="2000">
                <a:solidFill>
                  <a:srgbClr val="CDD6F4"/>
                </a:solidFill>
                <a:latin typeface="JetBrains Mono"/>
              </a:rPr>
              <a:t>Use /spec-interview to refine the spec</a:t>
            </a:r>
          </a:p>
          <a:p>
            <a:pPr>
              <a:spcAft>
                <a:spcPts val="2000"/>
              </a:spcAft>
            </a:pPr>
            <a:r>
              <a:rPr sz="2000" b="1">
                <a:solidFill>
                  <a:srgbClr val="A6E3A1"/>
                </a:solidFill>
                <a:latin typeface="JetBrains Mono"/>
              </a:rPr>
              <a:t>3. </a:t>
            </a:r>
            <a:r>
              <a:rPr sz="2000">
                <a:solidFill>
                  <a:srgbClr val="CDD6F4"/>
                </a:solidFill>
                <a:latin typeface="JetBrains Mono"/>
              </a:rPr>
              <a:t>Implement the improved version</a:t>
            </a:r>
          </a:p>
          <a:p>
            <a:pPr>
              <a:spcAft>
                <a:spcPts val="2000"/>
              </a:spcAft>
            </a:pPr>
            <a:r>
              <a:rPr sz="2000" b="1">
                <a:solidFill>
                  <a:srgbClr val="A6E3A1"/>
                </a:solidFill>
                <a:latin typeface="JetBrains Mono"/>
              </a:rPr>
              <a:t>4. </a:t>
            </a:r>
            <a:r>
              <a:rPr sz="2000">
                <a:solidFill>
                  <a:srgbClr val="CDD6F4"/>
                </a:solidFill>
                <a:latin typeface="JetBrains Mono"/>
              </a:rPr>
              <a:t>Create an HTML validation skill with /skill-creator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54864"/>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4000" b="1">
                <a:solidFill>
                  <a:srgbClr val="CDD6F4"/>
                </a:solidFill>
                <a:latin typeface="JetBrains Mono"/>
              </a:defRPr>
            </a:pPr>
            <a:r>
              <a:t>Superpowers</a:t>
            </a:r>
          </a:p>
        </p:txBody>
      </p:sp>
      <p:sp>
        <p:nvSpPr>
          <p:cNvPr id="5" name="TextBox 4"/>
          <p:cNvSpPr txBox="1"/>
          <p:nvPr/>
        </p:nvSpPr>
        <p:spPr>
          <a:xfrm>
            <a:off x="914400" y="3657600"/>
            <a:ext cx="10058400" cy="548640"/>
          </a:xfrm>
          <a:prstGeom prst="rect">
            <a:avLst/>
          </a:prstGeom>
          <a:noFill/>
        </p:spPr>
        <p:txBody>
          <a:bodyPr wrap="square">
            <a:spAutoFit/>
          </a:bodyPr>
          <a:lstStyle/>
          <a:p>
            <a:pPr algn="ctr">
              <a:defRPr sz="2000" b="0">
                <a:solidFill>
                  <a:srgbClr val="A6ADC8"/>
                </a:solidFill>
                <a:latin typeface="JetBrains Mono"/>
              </a:defRPr>
            </a:pPr>
            <a:r>
              <a:t>Pre-built skills for professional workflows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What Are Superpowers?</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3657600"/>
          </a:xfrm>
          <a:prstGeom prst="rect">
            <a:avLst/>
          </a:prstGeom>
          <a:noFill/>
        </p:spPr>
        <p:txBody>
          <a:bodyPr wrap="square">
            <a:spAutoFit/>
          </a:bodyPr>
          <a:lstStyle/>
          <a:p>
            <a:pPr>
              <a:spcAft>
                <a:spcPts val="1600"/>
              </a:spcAft>
            </a:pPr>
            <a:r>
              <a:rPr sz="1800" b="1">
                <a:solidFill>
                  <a:srgbClr val="CBA6F7"/>
                </a:solidFill>
                <a:latin typeface="JetBrains Mono"/>
              </a:rPr>
              <a:t>• </a:t>
            </a:r>
            <a:r>
              <a:rPr sz="1800">
                <a:solidFill>
                  <a:srgbClr val="CDD6F4"/>
                </a:solidFill>
                <a:latin typeface="JetBrains Mono"/>
              </a:rPr>
              <a:t>Curated skill packs that enhance Claude Code's behavior</a:t>
            </a:r>
          </a:p>
          <a:p>
            <a:pPr>
              <a:spcAft>
                <a:spcPts val="1600"/>
              </a:spcAft>
            </a:pPr>
            <a:r>
              <a:rPr sz="1800" b="1">
                <a:solidFill>
                  <a:srgbClr val="CBA6F7"/>
                </a:solidFill>
                <a:latin typeface="JetBrains Mono"/>
              </a:rPr>
              <a:t>• </a:t>
            </a:r>
            <a:r>
              <a:rPr sz="1800">
                <a:solidFill>
                  <a:srgbClr val="CDD6F4"/>
                </a:solidFill>
                <a:latin typeface="JetBrains Mono"/>
              </a:rPr>
              <a:t>Enforce disciplined workflows (TDD, debugging, planning)</a:t>
            </a:r>
          </a:p>
          <a:p>
            <a:pPr>
              <a:spcAft>
                <a:spcPts val="1600"/>
              </a:spcAft>
            </a:pPr>
            <a:r>
              <a:rPr sz="1800" b="1">
                <a:solidFill>
                  <a:srgbClr val="CBA6F7"/>
                </a:solidFill>
                <a:latin typeface="JetBrains Mono"/>
              </a:rPr>
              <a:t>• </a:t>
            </a:r>
            <a:r>
              <a:rPr sz="1800">
                <a:solidFill>
                  <a:srgbClr val="CDD6F4"/>
                </a:solidFill>
                <a:latin typeface="JetBrains Mono"/>
              </a:rPr>
              <a:t>Auto-trigger based on what you're doing</a:t>
            </a:r>
          </a:p>
          <a:p>
            <a:pPr>
              <a:spcAft>
                <a:spcPts val="1600"/>
              </a:spcAft>
            </a:pPr>
            <a:r>
              <a:rPr sz="1800" b="1">
                <a:solidFill>
                  <a:srgbClr val="CBA6F7"/>
                </a:solidFill>
                <a:latin typeface="JetBrains Mono"/>
              </a:rPr>
              <a:t>• </a:t>
            </a:r>
            <a:r>
              <a:rPr sz="1800">
                <a:solidFill>
                  <a:srgbClr val="CDD6F4"/>
                </a:solidFill>
                <a:latin typeface="JetBrains Mono"/>
              </a:rPr>
              <a:t>Installed via Claude Code /plugin command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Key Superpowers</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572000"/>
          </a:xfrm>
          <a:prstGeom prst="rect">
            <a:avLst/>
          </a:prstGeom>
          <a:noFill/>
        </p:spPr>
        <p:txBody>
          <a:bodyPr wrap="square">
            <a:spAutoFit/>
          </a:bodyPr>
          <a:lstStyle/>
          <a:p>
            <a:pPr>
              <a:spcAft>
                <a:spcPts val="1200"/>
              </a:spcAft>
            </a:pPr>
            <a:r>
              <a:rPr sz="1600" b="1">
                <a:solidFill>
                  <a:srgbClr val="B4BEFE"/>
                </a:solidFill>
                <a:latin typeface="JetBrains Mono"/>
              </a:rPr>
              <a:t>brainstorming        </a:t>
            </a:r>
            <a:r>
              <a:rPr sz="1600">
                <a:solidFill>
                  <a:srgbClr val="CDD6F4"/>
                </a:solidFill>
                <a:latin typeface="JetBrains Mono"/>
              </a:rPr>
              <a:t>Collaborative design before coding</a:t>
            </a:r>
          </a:p>
          <a:p>
            <a:pPr>
              <a:spcAft>
                <a:spcPts val="1200"/>
              </a:spcAft>
            </a:pPr>
            <a:r>
              <a:rPr sz="1600" b="1">
                <a:solidFill>
                  <a:srgbClr val="B4BEFE"/>
                </a:solidFill>
                <a:latin typeface="JetBrains Mono"/>
              </a:rPr>
              <a:t>writing-plans        </a:t>
            </a:r>
            <a:r>
              <a:rPr sz="1600">
                <a:solidFill>
                  <a:srgbClr val="CDD6F4"/>
                </a:solidFill>
                <a:latin typeface="JetBrains Mono"/>
              </a:rPr>
              <a:t>Structured implementation plans</a:t>
            </a:r>
          </a:p>
          <a:p>
            <a:pPr>
              <a:spcAft>
                <a:spcPts val="1200"/>
              </a:spcAft>
            </a:pPr>
            <a:r>
              <a:rPr sz="1600" b="1">
                <a:solidFill>
                  <a:srgbClr val="B4BEFE"/>
                </a:solidFill>
                <a:latin typeface="JetBrains Mono"/>
              </a:rPr>
              <a:t>executing-plans      </a:t>
            </a:r>
            <a:r>
              <a:rPr sz="1600">
                <a:solidFill>
                  <a:srgbClr val="CDD6F4"/>
                </a:solidFill>
                <a:latin typeface="JetBrains Mono"/>
              </a:rPr>
              <a:t>Plan execution with review checkpoints</a:t>
            </a:r>
          </a:p>
          <a:p>
            <a:pPr>
              <a:spcAft>
                <a:spcPts val="1200"/>
              </a:spcAft>
            </a:pPr>
            <a:r>
              <a:rPr sz="1600" b="1">
                <a:solidFill>
                  <a:srgbClr val="B4BEFE"/>
                </a:solidFill>
                <a:latin typeface="JetBrains Mono"/>
              </a:rPr>
              <a:t>test-driven-dev      </a:t>
            </a:r>
            <a:r>
              <a:rPr sz="1600">
                <a:solidFill>
                  <a:srgbClr val="CDD6F4"/>
                </a:solidFill>
                <a:latin typeface="JetBrains Mono"/>
              </a:rPr>
              <a:t>TDD workflow enforcement</a:t>
            </a:r>
          </a:p>
          <a:p>
            <a:pPr>
              <a:spcAft>
                <a:spcPts val="1200"/>
              </a:spcAft>
            </a:pPr>
            <a:r>
              <a:rPr sz="1600" b="1">
                <a:solidFill>
                  <a:srgbClr val="B4BEFE"/>
                </a:solidFill>
                <a:latin typeface="JetBrains Mono"/>
              </a:rPr>
              <a:t>systematic-debugging </a:t>
            </a:r>
            <a:r>
              <a:rPr sz="1600">
                <a:solidFill>
                  <a:srgbClr val="CDD6F4"/>
                </a:solidFill>
                <a:latin typeface="JetBrains Mono"/>
              </a:rPr>
              <a:t>Root cause analysis before fixes</a:t>
            </a:r>
          </a:p>
          <a:p>
            <a:pPr>
              <a:spcAft>
                <a:spcPts val="1200"/>
              </a:spcAft>
            </a:pPr>
            <a:r>
              <a:rPr sz="1600" b="1">
                <a:solidFill>
                  <a:srgbClr val="B4BEFE"/>
                </a:solidFill>
                <a:latin typeface="JetBrains Mono"/>
              </a:rPr>
              <a:t>code-review          </a:t>
            </a:r>
            <a:r>
              <a:rPr sz="1600">
                <a:solidFill>
                  <a:srgbClr val="CDD6F4"/>
                </a:solidFill>
                <a:latin typeface="JetBrains Mono"/>
              </a:rPr>
              <a:t>Requesting and receiving reviews</a:t>
            </a:r>
          </a:p>
          <a:p>
            <a:pPr>
              <a:spcAft>
                <a:spcPts val="1200"/>
              </a:spcAft>
            </a:pPr>
            <a:r>
              <a:rPr sz="1600" b="1">
                <a:solidFill>
                  <a:srgbClr val="B4BEFE"/>
                </a:solidFill>
                <a:latin typeface="JetBrains Mono"/>
              </a:rPr>
              <a:t>parallel-agents      </a:t>
            </a:r>
            <a:r>
              <a:rPr sz="1600">
                <a:solidFill>
                  <a:srgbClr val="CDD6F4"/>
                </a:solidFill>
                <a:latin typeface="JetBrains Mono"/>
              </a:rPr>
              <a:t>Dispatch independent work concurrently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Installing Superpowers</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Easy to add to any project:</a:t>
            </a:r>
          </a:p>
        </p:txBody>
      </p:sp>
      <p:sp>
        <p:nvSpPr>
          <p:cNvPr id="7" name="Rounded Rectangle 6"/>
          <p:cNvSpPr/>
          <p:nvPr/>
        </p:nvSpPr>
        <p:spPr>
          <a:xfrm>
            <a:off x="731520" y="2011680"/>
            <a:ext cx="10515600" cy="219456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 Install from Claude Code marketplace</a:t>
            </a:r>
          </a:p>
          <a:p>
            <a:pPr algn="l">
              <a:spcAft>
                <a:spcPts val="200"/>
              </a:spcAft>
              <a:defRPr sz="1500">
                <a:solidFill>
                  <a:srgbClr val="A6E3A1"/>
                </a:solidFill>
                <a:latin typeface="JetBrains Mono"/>
              </a:defRPr>
            </a:pPr>
            <a:r>
              <a:t>/plugin install superpowers@claude-plugins-official</a:t>
            </a:r>
          </a:p>
          <a:p>
            <a:pPr algn="l">
              <a:spcAft>
                <a:spcPts val="200"/>
              </a:spcAft>
              <a:defRPr sz="1500">
                <a:solidFill>
                  <a:srgbClr val="A6E3A1"/>
                </a:solidFill>
                <a:latin typeface="JetBrains Mono"/>
              </a:defRPr>
            </a:pPr>
            <a:r>
              <a:t>/plugin install skill-creator@claude-plugins-official</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Reload to activate</a:t>
            </a:r>
          </a:p>
          <a:p>
            <a:pPr algn="l">
              <a:spcAft>
                <a:spcPts val="200"/>
              </a:spcAft>
              <a:defRPr sz="1500">
                <a:solidFill>
                  <a:srgbClr val="A6E3A1"/>
                </a:solidFill>
                <a:latin typeface="JetBrains Mono"/>
              </a:defRPr>
            </a:pPr>
            <a:r>
              <a:t>/reload-plugins</a:t>
            </a:r>
          </a:p>
          <a:p>
            <a:pPr algn="l">
              <a:spcAft>
                <a:spcPts val="200"/>
              </a:spcAft>
              <a:defRPr sz="1500">
                <a:solidFill>
                  <a:srgbClr val="A6E3A1"/>
                </a:solidFill>
                <a:latin typeface="JetBrains Mono"/>
              </a:defRPr>
            </a:pPr>
          </a:p>
          <a:p>
            <a:pPr algn="l">
              <a:spcAft>
                <a:spcPts val="200"/>
              </a:spcAft>
              <a:defRPr sz="1500">
                <a:solidFill>
                  <a:srgbClr val="A6E3A1"/>
                </a:solidFill>
                <a:latin typeface="JetBrains Mono"/>
              </a:defRPr>
            </a:pPr>
            <a:r>
              <a:t># Or browse interactively: /plugin -&gt; Discover tab</a:t>
            </a:r>
          </a:p>
        </p:txBody>
      </p:sp>
      <p:sp>
        <p:nvSpPr>
          <p:cNvPr id="8" name="TextBox 7"/>
          <p:cNvSpPr txBox="1"/>
          <p:nvPr/>
        </p:nvSpPr>
        <p:spPr>
          <a:xfrm>
            <a:off x="731520" y="4572000"/>
            <a:ext cx="10058400" cy="2286000"/>
          </a:xfrm>
          <a:prstGeom prst="rect">
            <a:avLst/>
          </a:prstGeom>
          <a:noFill/>
        </p:spPr>
        <p:txBody>
          <a:bodyPr wrap="square">
            <a:spAutoFit/>
          </a:bodyPr>
          <a:lstStyle/>
          <a:p>
            <a:pPr>
              <a:spcAft>
                <a:spcPts val="1400"/>
              </a:spcAft>
            </a:pPr>
            <a:r>
              <a:rPr sz="1800" b="1">
                <a:solidFill>
                  <a:srgbClr val="CBA6F7"/>
                </a:solidFill>
                <a:latin typeface="JetBrains Mono"/>
              </a:rPr>
              <a:t>• </a:t>
            </a:r>
            <a:r>
              <a:rPr sz="1800">
                <a:solidFill>
                  <a:srgbClr val="CDD6F4"/>
                </a:solidFill>
                <a:latin typeface="JetBrains Mono"/>
              </a:rPr>
              <a:t>Plugins stored in .claude/plugins/</a:t>
            </a:r>
          </a:p>
          <a:p>
            <a:pPr>
              <a:spcAft>
                <a:spcPts val="1400"/>
              </a:spcAft>
            </a:pPr>
            <a:r>
              <a:rPr sz="1800" b="1">
                <a:solidFill>
                  <a:srgbClr val="CBA6F7"/>
                </a:solidFill>
                <a:latin typeface="JetBrains Mono"/>
              </a:rPr>
              <a:t>• </a:t>
            </a:r>
            <a:r>
              <a:rPr sz="1800">
                <a:solidFill>
                  <a:srgbClr val="CDD6F4"/>
                </a:solidFill>
                <a:latin typeface="JetBrains Mono"/>
              </a:rPr>
              <a:t>Skills auto-trigger based on what you're doing</a:t>
            </a:r>
          </a:p>
          <a:p>
            <a:pPr>
              <a:spcAft>
                <a:spcPts val="1400"/>
              </a:spcAft>
            </a:pPr>
            <a:r>
              <a:rPr sz="1800" b="1">
                <a:solidFill>
                  <a:srgbClr val="CBA6F7"/>
                </a:solidFill>
                <a:latin typeface="JetBrains Mono"/>
              </a:rPr>
              <a:t>• </a:t>
            </a:r>
            <a:r>
              <a:rPr sz="1800">
                <a:solidFill>
                  <a:srgbClr val="CDD6F4"/>
                </a:solidFill>
                <a:latin typeface="JetBrains Mono"/>
              </a:rPr>
              <a:t>skill-creator plugin also available for building custom skills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Action Pack 2: Superpowers Workflow</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Tic-tac-toe using the full superpowers development cycle:</a:t>
            </a:r>
          </a:p>
        </p:txBody>
      </p:sp>
      <p:sp>
        <p:nvSpPr>
          <p:cNvPr id="7" name="TextBox 6"/>
          <p:cNvSpPr txBox="1"/>
          <p:nvPr/>
        </p:nvSpPr>
        <p:spPr>
          <a:xfrm>
            <a:off x="731520" y="2011680"/>
            <a:ext cx="10058400" cy="3200400"/>
          </a:xfrm>
          <a:prstGeom prst="rect">
            <a:avLst/>
          </a:prstGeom>
          <a:noFill/>
        </p:spPr>
        <p:txBody>
          <a:bodyPr wrap="square">
            <a:spAutoFit/>
          </a:bodyPr>
          <a:lstStyle/>
          <a:p>
            <a:pPr>
              <a:spcAft>
                <a:spcPts val="1800"/>
              </a:spcAft>
            </a:pPr>
            <a:r>
              <a:rPr sz="1800" b="1">
                <a:solidFill>
                  <a:srgbClr val="B4BEFE"/>
                </a:solidFill>
                <a:latin typeface="JetBrains Mono"/>
              </a:rPr>
              <a:t>Step 1  </a:t>
            </a:r>
            <a:r>
              <a:rPr sz="1800">
                <a:solidFill>
                  <a:srgbClr val="CDD6F4"/>
                </a:solidFill>
                <a:latin typeface="JetBrains Mono"/>
              </a:rPr>
              <a:t>/brainstorming — Collaborative design, ask questions, explore approaches</a:t>
            </a:r>
          </a:p>
          <a:p>
            <a:pPr>
              <a:spcAft>
                <a:spcPts val="1800"/>
              </a:spcAft>
            </a:pPr>
            <a:r>
              <a:rPr sz="1800" b="1">
                <a:solidFill>
                  <a:srgbClr val="B4BEFE"/>
                </a:solidFill>
                <a:latin typeface="JetBrains Mono"/>
              </a:rPr>
              <a:t>Step 2  </a:t>
            </a:r>
            <a:r>
              <a:rPr sz="1800">
                <a:solidFill>
                  <a:srgbClr val="CDD6F4"/>
                </a:solidFill>
                <a:latin typeface="JetBrains Mono"/>
              </a:rPr>
              <a:t>/writing-plans — Create structured implementation plan from spec</a:t>
            </a:r>
          </a:p>
          <a:p>
            <a:pPr>
              <a:spcAft>
                <a:spcPts val="1800"/>
              </a:spcAft>
            </a:pPr>
            <a:r>
              <a:rPr sz="1800" b="1">
                <a:solidFill>
                  <a:srgbClr val="B4BEFE"/>
                </a:solidFill>
                <a:latin typeface="JetBrains Mono"/>
              </a:rPr>
              <a:t>Step 3  </a:t>
            </a:r>
            <a:r>
              <a:rPr sz="1800">
                <a:solidFill>
                  <a:srgbClr val="CDD6F4"/>
                </a:solidFill>
                <a:latin typeface="JetBrains Mono"/>
              </a:rPr>
              <a:t>/executing-plans — Execute plan step by step with checkpoints</a:t>
            </a:r>
          </a:p>
          <a:p>
            <a:pPr>
              <a:spcAft>
                <a:spcPts val="1800"/>
              </a:spcAft>
            </a:pPr>
            <a:r>
              <a:rPr sz="1800" b="1">
                <a:solidFill>
                  <a:srgbClr val="B4BEFE"/>
                </a:solidFill>
                <a:latin typeface="JetBrains Mono"/>
              </a:rPr>
              <a:t>Step 4  </a:t>
            </a:r>
            <a:r>
              <a:rPr sz="1800">
                <a:solidFill>
                  <a:srgbClr val="CDD6F4"/>
                </a:solidFill>
                <a:latin typeface="JetBrains Mono"/>
              </a:rPr>
              <a:t>/code-review — Review implementation against the design</a:t>
            </a:r>
          </a:p>
        </p:txBody>
      </p:sp>
      <p:sp>
        <p:nvSpPr>
          <p:cNvPr id="8" name="TextBox 7"/>
          <p:cNvSpPr txBox="1"/>
          <p:nvPr/>
        </p:nvSpPr>
        <p:spPr>
          <a:xfrm>
            <a:off x="731520" y="5303520"/>
            <a:ext cx="10058400" cy="548640"/>
          </a:xfrm>
          <a:prstGeom prst="rect">
            <a:avLst/>
          </a:prstGeom>
          <a:noFill/>
        </p:spPr>
        <p:txBody>
          <a:bodyPr wrap="square">
            <a:spAutoFit/>
          </a:bodyPr>
          <a:lstStyle/>
          <a:p>
            <a:pPr algn="l">
              <a:defRPr sz="1600" b="0">
                <a:solidFill>
                  <a:srgbClr val="9399B2"/>
                </a:solidFill>
                <a:latin typeface="JetBrains Mono"/>
              </a:defRPr>
            </a:pPr>
            <a:r>
              <a:t>Each skill enforces discipline — no skipping steps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/brainstorming</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Rounded Rectangle 5"/>
          <p:cNvSpPr/>
          <p:nvPr/>
        </p:nvSpPr>
        <p:spPr>
          <a:xfrm>
            <a:off x="731520" y="1280160"/>
            <a:ext cx="10515600" cy="164592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500">
                <a:solidFill>
                  <a:srgbClr val="A6E3A1"/>
                </a:solidFill>
                <a:latin typeface="JetBrains Mono"/>
              </a:defRPr>
            </a:pPr>
            <a:r>
              <a:t>/brainstorming Create a tic-tac-toe game with a Rustweb server backend and TypeScript frontend UI</a:t>
            </a:r>
          </a:p>
        </p:txBody>
      </p:sp>
      <p:sp>
        <p:nvSpPr>
          <p:cNvPr id="7" name="TextBox 6"/>
          <p:cNvSpPr txBox="1"/>
          <p:nvPr/>
        </p:nvSpPr>
        <p:spPr>
          <a:xfrm>
            <a:off x="731520" y="3291840"/>
            <a:ext cx="10058400" cy="2743200"/>
          </a:xfrm>
          <a:prstGeom prst="rect">
            <a:avLst/>
          </a:prstGeom>
          <a:noFill/>
        </p:spPr>
        <p:txBody>
          <a:bodyPr wrap="square">
            <a:spAutoFit/>
          </a:bodyPr>
          <a:lstStyle/>
          <a:p>
            <a:pPr>
              <a:spcAft>
                <a:spcPts val="1200"/>
              </a:spcAft>
            </a:pPr>
            <a:r>
              <a:rPr sz="1700" b="1">
                <a:solidFill>
                  <a:srgbClr val="CBA6F7"/>
                </a:solidFill>
                <a:latin typeface="JetBrains Mono"/>
              </a:rPr>
              <a:t>• </a:t>
            </a:r>
            <a:r>
              <a:rPr sz="1700">
                <a:solidFill>
                  <a:srgbClr val="CDD6F4"/>
                </a:solidFill>
                <a:latin typeface="JetBrains Mono"/>
              </a:rPr>
              <a:t>Explores project context before asking questions</a:t>
            </a:r>
          </a:p>
          <a:p>
            <a:pPr>
              <a:spcAft>
                <a:spcPts val="1200"/>
              </a:spcAft>
            </a:pPr>
            <a:r>
              <a:rPr sz="1700" b="1">
                <a:solidFill>
                  <a:srgbClr val="CBA6F7"/>
                </a:solidFill>
                <a:latin typeface="JetBrains Mono"/>
              </a:rPr>
              <a:t>• </a:t>
            </a:r>
            <a:r>
              <a:rPr sz="1700">
                <a:solidFill>
                  <a:srgbClr val="CDD6F4"/>
                </a:solidFill>
                <a:latin typeface="JetBrains Mono"/>
              </a:rPr>
              <a:t>Asks clarifying questions one at a time</a:t>
            </a:r>
          </a:p>
          <a:p>
            <a:pPr>
              <a:spcAft>
                <a:spcPts val="1200"/>
              </a:spcAft>
            </a:pPr>
            <a:r>
              <a:rPr sz="1700" b="1">
                <a:solidFill>
                  <a:srgbClr val="CBA6F7"/>
                </a:solidFill>
                <a:latin typeface="JetBrains Mono"/>
              </a:rPr>
              <a:t>• </a:t>
            </a:r>
            <a:r>
              <a:rPr sz="1700">
                <a:solidFill>
                  <a:srgbClr val="CDD6F4"/>
                </a:solidFill>
                <a:latin typeface="JetBrains Mono"/>
              </a:rPr>
              <a:t>Proposes 2-3 approaches with trade-offs</a:t>
            </a:r>
          </a:p>
          <a:p>
            <a:pPr>
              <a:spcAft>
                <a:spcPts val="1200"/>
              </a:spcAft>
            </a:pPr>
            <a:r>
              <a:rPr sz="1700" b="1">
                <a:solidFill>
                  <a:srgbClr val="CBA6F7"/>
                </a:solidFill>
                <a:latin typeface="JetBrains Mono"/>
              </a:rPr>
              <a:t>• </a:t>
            </a:r>
            <a:r>
              <a:rPr sz="1700">
                <a:solidFill>
                  <a:srgbClr val="CDD6F4"/>
                </a:solidFill>
                <a:latin typeface="JetBrains Mono"/>
              </a:rPr>
              <a:t>Presents design section by section for approval</a:t>
            </a:r>
          </a:p>
          <a:p>
            <a:pPr>
              <a:spcAft>
                <a:spcPts val="1200"/>
              </a:spcAft>
            </a:pPr>
            <a:r>
              <a:rPr sz="1700" b="1">
                <a:solidFill>
                  <a:srgbClr val="CBA6F7"/>
                </a:solidFill>
                <a:latin typeface="JetBrains Mono"/>
              </a:rPr>
              <a:t>• </a:t>
            </a:r>
            <a:r>
              <a:rPr sz="1700">
                <a:solidFill>
                  <a:srgbClr val="CDD6F4"/>
                </a:solidFill>
                <a:latin typeface="JetBrains Mono"/>
              </a:rPr>
              <a:t>Writes design spec to docs/ and commits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/writing-plans → /executing-plans</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188720"/>
            <a:ext cx="5029200" cy="457200"/>
          </a:xfrm>
          <a:prstGeom prst="rect">
            <a:avLst/>
          </a:prstGeom>
          <a:noFill/>
        </p:spPr>
        <p:txBody>
          <a:bodyPr wrap="square">
            <a:spAutoFit/>
          </a:bodyPr>
          <a:lstStyle/>
          <a:p>
            <a:pPr algn="l">
              <a:defRPr sz="2000" b="1">
                <a:solidFill>
                  <a:srgbClr val="B4BEFE"/>
                </a:solidFill>
                <a:latin typeface="JetBrains Mono"/>
              </a:defRPr>
            </a:pPr>
            <a:r>
              <a:t>/writing-plans</a:t>
            </a:r>
          </a:p>
        </p:txBody>
      </p:sp>
      <p:sp>
        <p:nvSpPr>
          <p:cNvPr id="7" name="TextBox 6"/>
          <p:cNvSpPr txBox="1"/>
          <p:nvPr/>
        </p:nvSpPr>
        <p:spPr>
          <a:xfrm>
            <a:off x="731520" y="1828800"/>
            <a:ext cx="5029200" cy="3200400"/>
          </a:xfrm>
          <a:prstGeom prst="rect">
            <a:avLst/>
          </a:prstGeom>
          <a:noFill/>
        </p:spPr>
        <p:txBody>
          <a:bodyPr wrap="square">
            <a:spAutoFit/>
          </a:bodyPr>
          <a:lstStyle/>
          <a:p>
            <a:pPr>
              <a:spcAft>
                <a:spcPts val="1200"/>
              </a:spcAft>
            </a:pPr>
            <a:r>
              <a:rPr sz="1600" b="1">
                <a:solidFill>
                  <a:srgbClr val="B4BEFE"/>
                </a:solidFill>
                <a:latin typeface="JetBrains Mono"/>
              </a:rPr>
              <a:t>• </a:t>
            </a:r>
            <a:r>
              <a:rPr sz="1600">
                <a:solidFill>
                  <a:srgbClr val="CDD6F4"/>
                </a:solidFill>
                <a:latin typeface="JetBrains Mono"/>
              </a:rPr>
              <a:t>Reads the approved design spec</a:t>
            </a:r>
          </a:p>
          <a:p>
            <a:pPr>
              <a:spcAft>
                <a:spcPts val="1200"/>
              </a:spcAft>
            </a:pPr>
            <a:r>
              <a:rPr sz="1600" b="1">
                <a:solidFill>
                  <a:srgbClr val="B4BEFE"/>
                </a:solidFill>
                <a:latin typeface="JetBrains Mono"/>
              </a:rPr>
              <a:t>• </a:t>
            </a:r>
            <a:r>
              <a:rPr sz="1600">
                <a:solidFill>
                  <a:srgbClr val="CDD6F4"/>
                </a:solidFill>
                <a:latin typeface="JetBrains Mono"/>
              </a:rPr>
              <a:t>Breaks work into ordered tasks</a:t>
            </a:r>
          </a:p>
          <a:p>
            <a:pPr>
              <a:spcAft>
                <a:spcPts val="1200"/>
              </a:spcAft>
            </a:pPr>
            <a:r>
              <a:rPr sz="1600" b="1">
                <a:solidFill>
                  <a:srgbClr val="B4BEFE"/>
                </a:solidFill>
                <a:latin typeface="JetBrains Mono"/>
              </a:rPr>
              <a:t>• </a:t>
            </a:r>
            <a:r>
              <a:rPr sz="1600">
                <a:solidFill>
                  <a:srgbClr val="CDD6F4"/>
                </a:solidFill>
                <a:latin typeface="JetBrains Mono"/>
              </a:rPr>
              <a:t>Identifies dependencies</a:t>
            </a:r>
          </a:p>
          <a:p>
            <a:pPr>
              <a:spcAft>
                <a:spcPts val="1200"/>
              </a:spcAft>
            </a:pPr>
            <a:r>
              <a:rPr sz="1600" b="1">
                <a:solidFill>
                  <a:srgbClr val="B4BEFE"/>
                </a:solidFill>
                <a:latin typeface="JetBrains Mono"/>
              </a:rPr>
              <a:t>• </a:t>
            </a:r>
            <a:r>
              <a:rPr sz="1600">
                <a:solidFill>
                  <a:srgbClr val="CDD6F4"/>
                </a:solidFill>
                <a:latin typeface="JetBrains Mono"/>
              </a:rPr>
              <a:t>Saves plan as markdown</a:t>
            </a:r>
          </a:p>
        </p:txBody>
      </p:sp>
      <p:sp>
        <p:nvSpPr>
          <p:cNvPr id="8" name="TextBox 7"/>
          <p:cNvSpPr txBox="1"/>
          <p:nvPr/>
        </p:nvSpPr>
        <p:spPr>
          <a:xfrm>
            <a:off x="6400800" y="1188720"/>
            <a:ext cx="5029200" cy="457200"/>
          </a:xfrm>
          <a:prstGeom prst="rect">
            <a:avLst/>
          </a:prstGeom>
          <a:noFill/>
        </p:spPr>
        <p:txBody>
          <a:bodyPr wrap="square">
            <a:spAutoFit/>
          </a:bodyPr>
          <a:lstStyle/>
          <a:p>
            <a:pPr algn="l">
              <a:defRPr sz="2000" b="1">
                <a:solidFill>
                  <a:srgbClr val="CBA6F7"/>
                </a:solidFill>
                <a:latin typeface="JetBrains Mono"/>
              </a:defRPr>
            </a:pPr>
            <a:r>
              <a:t>/executing-plans</a:t>
            </a:r>
          </a:p>
        </p:txBody>
      </p:sp>
      <p:sp>
        <p:nvSpPr>
          <p:cNvPr id="9" name="TextBox 8"/>
          <p:cNvSpPr txBox="1"/>
          <p:nvPr/>
        </p:nvSpPr>
        <p:spPr>
          <a:xfrm>
            <a:off x="6400800" y="1828800"/>
            <a:ext cx="5029200" cy="3200400"/>
          </a:xfrm>
          <a:prstGeom prst="rect">
            <a:avLst/>
          </a:prstGeom>
          <a:noFill/>
        </p:spPr>
        <p:txBody>
          <a:bodyPr wrap="square">
            <a:spAutoFit/>
          </a:bodyPr>
          <a:lstStyle/>
          <a:p>
            <a:pPr>
              <a:spcAft>
                <a:spcPts val="1200"/>
              </a:spcAft>
            </a:pPr>
            <a:r>
              <a:rPr sz="1600" b="1">
                <a:solidFill>
                  <a:srgbClr val="CBA6F7"/>
                </a:solidFill>
                <a:latin typeface="JetBrains Mono"/>
              </a:rPr>
              <a:t>• </a:t>
            </a:r>
            <a:r>
              <a:rPr sz="1600">
                <a:solidFill>
                  <a:srgbClr val="CDD6F4"/>
                </a:solidFill>
                <a:latin typeface="JetBrains Mono"/>
              </a:rPr>
              <a:t>Follows plan step by step</a:t>
            </a:r>
          </a:p>
          <a:p>
            <a:pPr>
              <a:spcAft>
                <a:spcPts val="1200"/>
              </a:spcAft>
            </a:pPr>
            <a:r>
              <a:rPr sz="1600" b="1">
                <a:solidFill>
                  <a:srgbClr val="CBA6F7"/>
                </a:solidFill>
                <a:latin typeface="JetBrains Mono"/>
              </a:rPr>
              <a:t>• </a:t>
            </a:r>
            <a:r>
              <a:rPr sz="1600">
                <a:solidFill>
                  <a:srgbClr val="CDD6F4"/>
                </a:solidFill>
                <a:latin typeface="JetBrains Mono"/>
              </a:rPr>
              <a:t>Review checkpoints between steps</a:t>
            </a:r>
          </a:p>
          <a:p>
            <a:pPr>
              <a:spcAft>
                <a:spcPts val="1200"/>
              </a:spcAft>
            </a:pPr>
            <a:r>
              <a:rPr sz="1600" b="1">
                <a:solidFill>
                  <a:srgbClr val="CBA6F7"/>
                </a:solidFill>
                <a:latin typeface="JetBrains Mono"/>
              </a:rPr>
              <a:t>• </a:t>
            </a:r>
            <a:r>
              <a:rPr sz="1600">
                <a:solidFill>
                  <a:srgbClr val="CDD6F4"/>
                </a:solidFill>
                <a:latin typeface="JetBrains Mono"/>
              </a:rPr>
              <a:t>Runs tests after each phase</a:t>
            </a:r>
          </a:p>
          <a:p>
            <a:pPr>
              <a:spcAft>
                <a:spcPts val="1200"/>
              </a:spcAft>
            </a:pPr>
            <a:r>
              <a:rPr sz="1600" b="1">
                <a:solidFill>
                  <a:srgbClr val="CBA6F7"/>
                </a:solidFill>
                <a:latin typeface="JetBrains Mono"/>
              </a:rPr>
              <a:t>• </a:t>
            </a:r>
            <a:r>
              <a:rPr sz="1600">
                <a:solidFill>
                  <a:srgbClr val="CDD6F4"/>
                </a:solidFill>
                <a:latin typeface="JetBrains Mono"/>
              </a:rPr>
              <a:t>Commits working increments</a:t>
            </a:r>
          </a:p>
        </p:txBody>
      </p:sp>
      <p:sp>
        <p:nvSpPr>
          <p:cNvPr id="10" name="Rectangle 9"/>
          <p:cNvSpPr/>
          <p:nvPr/>
        </p:nvSpPr>
        <p:spPr>
          <a:xfrm>
            <a:off x="5943600" y="1188720"/>
            <a:ext cx="36576" cy="4114800"/>
          </a:xfrm>
          <a:prstGeom prst="rect">
            <a:avLst/>
          </a:prstGeom>
          <a:solidFill>
            <a:srgbClr val="45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/code-review</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2743200"/>
          </a:xfrm>
          <a:prstGeom prst="rect">
            <a:avLst/>
          </a:prstGeom>
          <a:noFill/>
        </p:spPr>
        <p:txBody>
          <a:bodyPr wrap="square">
            <a:spAutoFit/>
          </a:bodyPr>
          <a:lstStyle/>
          <a:p>
            <a:pPr>
              <a:spcAft>
                <a:spcPts val="1600"/>
              </a:spcAft>
            </a:pPr>
            <a:r>
              <a:rPr sz="1800" b="1">
                <a:solidFill>
                  <a:srgbClr val="CBA6F7"/>
                </a:solidFill>
                <a:latin typeface="JetBrains Mono"/>
              </a:rPr>
              <a:t>• </a:t>
            </a:r>
            <a:r>
              <a:rPr sz="1800">
                <a:solidFill>
                  <a:srgbClr val="CDD6F4"/>
                </a:solidFill>
                <a:latin typeface="JetBrains Mono"/>
              </a:rPr>
              <a:t>Reviews implementation against the original design spec</a:t>
            </a:r>
          </a:p>
          <a:p>
            <a:pPr>
              <a:spcAft>
                <a:spcPts val="1600"/>
              </a:spcAft>
            </a:pPr>
            <a:r>
              <a:rPr sz="1800" b="1">
                <a:solidFill>
                  <a:srgbClr val="CBA6F7"/>
                </a:solidFill>
                <a:latin typeface="JetBrains Mono"/>
              </a:rPr>
              <a:t>• </a:t>
            </a:r>
            <a:r>
              <a:rPr sz="1800">
                <a:solidFill>
                  <a:srgbClr val="CDD6F4"/>
                </a:solidFill>
                <a:latin typeface="JetBrains Mono"/>
              </a:rPr>
              <a:t>Checks for missed requirements and edge cases</a:t>
            </a:r>
          </a:p>
          <a:p>
            <a:pPr>
              <a:spcAft>
                <a:spcPts val="1600"/>
              </a:spcAft>
            </a:pPr>
            <a:r>
              <a:rPr sz="1800" b="1">
                <a:solidFill>
                  <a:srgbClr val="CBA6F7"/>
                </a:solidFill>
                <a:latin typeface="JetBrains Mono"/>
              </a:rPr>
              <a:t>• </a:t>
            </a:r>
            <a:r>
              <a:rPr sz="1800">
                <a:solidFill>
                  <a:srgbClr val="CDD6F4"/>
                </a:solidFill>
                <a:latin typeface="JetBrains Mono"/>
              </a:rPr>
              <a:t>Verifies tests cover the spec's success criteria</a:t>
            </a:r>
          </a:p>
          <a:p>
            <a:pPr>
              <a:spcAft>
                <a:spcPts val="1600"/>
              </a:spcAft>
            </a:pPr>
            <a:r>
              <a:rPr sz="1800" b="1">
                <a:solidFill>
                  <a:srgbClr val="CBA6F7"/>
                </a:solidFill>
                <a:latin typeface="JetBrains Mono"/>
              </a:rPr>
              <a:t>• </a:t>
            </a:r>
            <a:r>
              <a:rPr sz="1800">
                <a:solidFill>
                  <a:srgbClr val="CDD6F4"/>
                </a:solidFill>
                <a:latin typeface="JetBrains Mono"/>
              </a:rPr>
              <a:t>Provides actionable feedback, not rubber-stamp approval</a:t>
            </a:r>
          </a:p>
        </p:txBody>
      </p:sp>
      <p:sp>
        <p:nvSpPr>
          <p:cNvPr id="7" name="TextBox 6"/>
          <p:cNvSpPr txBox="1"/>
          <p:nvPr/>
        </p:nvSpPr>
        <p:spPr>
          <a:xfrm>
            <a:off x="731520" y="4114800"/>
            <a:ext cx="10058400" cy="1097280"/>
          </a:xfrm>
          <a:prstGeom prst="rect">
            <a:avLst/>
          </a:prstGeom>
          <a:noFill/>
        </p:spPr>
        <p:txBody>
          <a:bodyPr wrap="square">
            <a:spAutoFit/>
          </a:bodyPr>
          <a:lstStyle/>
          <a:p>
            <a:pPr algn="l">
              <a:defRPr sz="1600" b="0">
                <a:solidFill>
                  <a:srgbClr val="9399B2"/>
                </a:solidFill>
                <a:latin typeface="JetBrains Mono"/>
              </a:defRPr>
            </a:pPr>
            <a:r>
              <a:t>The full cycle: brainstorm → spec → plan → execute → review</a:t>
            </a:r>
            <a:br/>
            <a:r>
              <a:t>Each step builds on the previous, creating an audit trail.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Practice: Action Pack 2</a:t>
            </a:r>
          </a:p>
        </p:txBody>
      </p:sp>
      <p:sp>
        <p:nvSpPr>
          <p:cNvPr id="4" name="Rectangle 3"/>
          <p:cNvSpPr/>
          <p:nvPr/>
        </p:nvSpPr>
        <p:spPr>
          <a:xfrm>
            <a:off x="548640" y="960120"/>
            <a:ext cx="2743200" cy="36576"/>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548640"/>
          </a:xfrm>
          <a:prstGeom prst="rect">
            <a:avLst/>
          </a:prstGeom>
          <a:noFill/>
        </p:spPr>
        <p:txBody>
          <a:bodyPr wrap="square">
            <a:spAutoFit/>
          </a:bodyPr>
          <a:lstStyle/>
          <a:p>
            <a:pPr algn="l">
              <a:defRPr sz="2200" b="1">
                <a:solidFill>
                  <a:srgbClr val="FAB387"/>
                </a:solidFill>
                <a:latin typeface="JetBrains Mono"/>
              </a:defRPr>
            </a:pPr>
            <a:r>
              <a:t>Try the superpowers workflow yourself!</a:t>
            </a:r>
          </a:p>
        </p:txBody>
      </p:sp>
      <p:sp>
        <p:nvSpPr>
          <p:cNvPr id="6" name="TextBox 5"/>
          <p:cNvSpPr txBox="1"/>
          <p:nvPr/>
        </p:nvSpPr>
        <p:spPr>
          <a:xfrm>
            <a:off x="731520" y="2194560"/>
            <a:ext cx="10058400" cy="3657600"/>
          </a:xfrm>
          <a:prstGeom prst="rect">
            <a:avLst/>
          </a:prstGeom>
          <a:noFill/>
        </p:spPr>
        <p:txBody>
          <a:bodyPr wrap="square">
            <a:spAutoFit/>
          </a:bodyPr>
          <a:lstStyle/>
          <a:p>
            <a:pPr>
              <a:spcAft>
                <a:spcPts val="2000"/>
              </a:spcAft>
            </a:pPr>
            <a:r>
              <a:rPr sz="2000" b="1">
                <a:solidFill>
                  <a:srgbClr val="A6E3A1"/>
                </a:solidFill>
                <a:latin typeface="JetBrains Mono"/>
              </a:rPr>
              <a:t>1. </a:t>
            </a:r>
            <a:r>
              <a:rPr sz="2000">
                <a:solidFill>
                  <a:srgbClr val="CDD6F4"/>
                </a:solidFill>
                <a:latin typeface="JetBrains Mono"/>
              </a:rPr>
              <a:t>Run /brainstorming and answer the design questions</a:t>
            </a:r>
          </a:p>
          <a:p>
            <a:pPr>
              <a:spcAft>
                <a:spcPts val="2000"/>
              </a:spcAft>
            </a:pPr>
            <a:r>
              <a:rPr sz="2000" b="1">
                <a:solidFill>
                  <a:srgbClr val="A6E3A1"/>
                </a:solidFill>
                <a:latin typeface="JetBrains Mono"/>
              </a:rPr>
              <a:t>2. </a:t>
            </a:r>
            <a:r>
              <a:rPr sz="2000">
                <a:solidFill>
                  <a:srgbClr val="CDD6F4"/>
                </a:solidFill>
                <a:latin typeface="JetBrains Mono"/>
              </a:rPr>
              <a:t>Approve the design, then run /writing-plans</a:t>
            </a:r>
          </a:p>
          <a:p>
            <a:pPr>
              <a:spcAft>
                <a:spcPts val="2000"/>
              </a:spcAft>
            </a:pPr>
            <a:r>
              <a:rPr sz="2000" b="1">
                <a:solidFill>
                  <a:srgbClr val="A6E3A1"/>
                </a:solidFill>
                <a:latin typeface="JetBrains Mono"/>
              </a:rPr>
              <a:t>3. </a:t>
            </a:r>
            <a:r>
              <a:rPr sz="2000">
                <a:solidFill>
                  <a:srgbClr val="CDD6F4"/>
                </a:solidFill>
                <a:latin typeface="JetBrains Mono"/>
              </a:rPr>
              <a:t>Execute with /executing-plans</a:t>
            </a:r>
          </a:p>
          <a:p>
            <a:pPr>
              <a:spcAft>
                <a:spcPts val="2000"/>
              </a:spcAft>
            </a:pPr>
            <a:r>
              <a:rPr sz="2000" b="1">
                <a:solidFill>
                  <a:srgbClr val="A6E3A1"/>
                </a:solidFill>
                <a:latin typeface="JetBrains Mono"/>
              </a:rPr>
              <a:t>4. </a:t>
            </a:r>
            <a:r>
              <a:rPr sz="2000">
                <a:solidFill>
                  <a:srgbClr val="CDD6F4"/>
                </a:solidFill>
                <a:latin typeface="JetBrains Mono"/>
              </a:rPr>
              <a:t>Review with /code-review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54864"/>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4000" b="1">
                <a:solidFill>
                  <a:srgbClr val="CDD6F4"/>
                </a:solidFill>
                <a:latin typeface="JetBrains Mono"/>
              </a:defRPr>
            </a:pPr>
            <a:r>
              <a:t>CLI Tools vs MCP Servers</a:t>
            </a:r>
          </a:p>
        </p:txBody>
      </p:sp>
      <p:sp>
        <p:nvSpPr>
          <p:cNvPr id="5" name="TextBox 4"/>
          <p:cNvSpPr txBox="1"/>
          <p:nvPr/>
        </p:nvSpPr>
        <p:spPr>
          <a:xfrm>
            <a:off x="914400" y="3657600"/>
            <a:ext cx="10058400" cy="548640"/>
          </a:xfrm>
          <a:prstGeom prst="rect">
            <a:avLst/>
          </a:prstGeom>
          <a:noFill/>
        </p:spPr>
        <p:txBody>
          <a:bodyPr wrap="square">
            <a:spAutoFit/>
          </a:bodyPr>
          <a:lstStyle/>
          <a:p>
            <a:pPr algn="ctr">
              <a:defRPr sz="2000" b="0">
                <a:solidFill>
                  <a:srgbClr val="A6ADC8"/>
                </a:solidFill>
                <a:latin typeface="JetBrains Mono"/>
              </a:defRPr>
            </a:pPr>
            <a:r>
              <a:t>Always prefer CLI tools — use MCP only as last resort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The Problem with MCP Servers</a:t>
            </a:r>
          </a:p>
        </p:txBody>
      </p:sp>
      <p:sp>
        <p:nvSpPr>
          <p:cNvPr id="4" name="Rectangle 3"/>
          <p:cNvSpPr/>
          <p:nvPr/>
        </p:nvSpPr>
        <p:spPr>
          <a:xfrm>
            <a:off x="548640" y="960120"/>
            <a:ext cx="2743200" cy="36576"/>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3200400"/>
          </a:xfrm>
          <a:prstGeom prst="rect">
            <a:avLst/>
          </a:prstGeom>
          <a:noFill/>
        </p:spPr>
        <p:txBody>
          <a:bodyPr wrap="square">
            <a:spAutoFit/>
          </a:bodyPr>
          <a:lstStyle/>
          <a:p>
            <a:pPr>
              <a:spcAft>
                <a:spcPts val="1600"/>
              </a:spcAft>
            </a:pPr>
            <a:r>
              <a:rPr sz="1800" b="1">
                <a:solidFill>
                  <a:srgbClr val="F38BA8"/>
                </a:solidFill>
                <a:latin typeface="JetBrains Mono"/>
              </a:rPr>
              <a:t>• </a:t>
            </a:r>
            <a:r>
              <a:rPr sz="1800">
                <a:solidFill>
                  <a:srgbClr val="CDD6F4"/>
                </a:solidFill>
                <a:latin typeface="JetBrains Mono"/>
              </a:rPr>
              <a:t>MCP tools consume significantly more tokens than CLI</a:t>
            </a:r>
          </a:p>
          <a:p>
            <a:pPr>
              <a:spcAft>
                <a:spcPts val="1600"/>
              </a:spcAft>
            </a:pPr>
            <a:r>
              <a:rPr sz="1800" b="1">
                <a:solidFill>
                  <a:srgbClr val="F38BA8"/>
                </a:solidFill>
                <a:latin typeface="JetBrains Mono"/>
              </a:rPr>
              <a:t>• </a:t>
            </a:r>
            <a:r>
              <a:rPr sz="1800">
                <a:solidFill>
                  <a:srgbClr val="CDD6F4"/>
                </a:solidFill>
                <a:latin typeface="JetBrains Mono"/>
              </a:rPr>
              <a:t>MCP servers wrap tools behind JSON-RPC abstraction</a:t>
            </a:r>
          </a:p>
          <a:p>
            <a:pPr>
              <a:spcAft>
                <a:spcPts val="1600"/>
              </a:spcAft>
            </a:pPr>
            <a:r>
              <a:rPr sz="1800" b="1">
                <a:solidFill>
                  <a:srgbClr val="F38BA8"/>
                </a:solidFill>
                <a:latin typeface="JetBrains Mono"/>
              </a:rPr>
              <a:t>• </a:t>
            </a:r>
            <a:r>
              <a:rPr sz="1800">
                <a:solidFill>
                  <a:srgbClr val="CDD6F4"/>
                </a:solidFill>
                <a:latin typeface="JetBrains Mono"/>
              </a:rPr>
              <a:t>Extra process to configure, start, and keep alive</a:t>
            </a:r>
          </a:p>
          <a:p>
            <a:pPr>
              <a:spcAft>
                <a:spcPts val="1600"/>
              </a:spcAft>
            </a:pPr>
            <a:r>
              <a:rPr sz="1800" b="1">
                <a:solidFill>
                  <a:srgbClr val="F38BA8"/>
                </a:solidFill>
                <a:latin typeface="JetBrains Mono"/>
              </a:rPr>
              <a:t>• </a:t>
            </a:r>
            <a:r>
              <a:rPr sz="1800">
                <a:solidFill>
                  <a:srgbClr val="CDD6F4"/>
                </a:solidFill>
                <a:latin typeface="JetBrains Mono"/>
              </a:rPr>
              <a:t>Adds failure points: server crashes, version mismatches</a:t>
            </a:r>
          </a:p>
          <a:p>
            <a:pPr>
              <a:spcAft>
                <a:spcPts val="1600"/>
              </a:spcAft>
            </a:pPr>
            <a:r>
              <a:rPr sz="1800" b="1">
                <a:solidFill>
                  <a:srgbClr val="F38BA8"/>
                </a:solidFill>
                <a:latin typeface="JetBrains Mono"/>
              </a:rPr>
              <a:t>• </a:t>
            </a:r>
            <a:r>
              <a:rPr sz="1800">
                <a:solidFill>
                  <a:srgbClr val="CDD6F4"/>
                </a:solidFill>
                <a:latin typeface="JetBrains Mono"/>
              </a:rPr>
              <a:t>Harder to debug — errors are wrapped and opaque</a:t>
            </a:r>
          </a:p>
          <a:p>
            <a:pPr>
              <a:spcAft>
                <a:spcPts val="1600"/>
              </a:spcAft>
            </a:pPr>
            <a:r>
              <a:rPr sz="1800" b="1">
                <a:solidFill>
                  <a:srgbClr val="F38BA8"/>
                </a:solidFill>
                <a:latin typeface="JetBrains Mono"/>
              </a:rPr>
              <a:t>• </a:t>
            </a:r>
            <a:r>
              <a:rPr sz="1800">
                <a:solidFill>
                  <a:srgbClr val="CDD6F4"/>
                </a:solidFill>
                <a:latin typeface="JetBrains Mono"/>
              </a:rPr>
              <a:t>Most tools already have excellent CLI interfaces</a:t>
            </a:r>
          </a:p>
        </p:txBody>
      </p:sp>
      <p:sp>
        <p:nvSpPr>
          <p:cNvPr id="6" name="TextBox 5"/>
          <p:cNvSpPr txBox="1"/>
          <p:nvPr/>
        </p:nvSpPr>
        <p:spPr>
          <a:xfrm>
            <a:off x="731520" y="4754880"/>
            <a:ext cx="10058400" cy="731520"/>
          </a:xfrm>
          <a:prstGeom prst="rect">
            <a:avLst/>
          </a:prstGeom>
          <a:noFill/>
        </p:spPr>
        <p:txBody>
          <a:bodyPr wrap="square">
            <a:spAutoFit/>
          </a:bodyPr>
          <a:lstStyle/>
          <a:p>
            <a:pPr algn="l">
              <a:defRPr sz="1600" b="0">
                <a:solidFill>
                  <a:srgbClr val="9399B2"/>
                </a:solidFill>
                <a:latin typeface="JetBrains Mono"/>
              </a:defRPr>
            </a:pPr>
            <a:r>
              <a:t>If a tool has a CLI, Claude can already use it via Bash.</a:t>
            </a:r>
            <a:br/>
            <a:r>
              <a:t>An MCP wrapper adds complexity with no added capability.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Example: Playwright CLI vs MCP Server</a:t>
            </a:r>
          </a:p>
        </p:txBody>
      </p:sp>
      <p:sp>
        <p:nvSpPr>
          <p:cNvPr id="4" name="Rectangle 3"/>
          <p:cNvSpPr/>
          <p:nvPr/>
        </p:nvSpPr>
        <p:spPr>
          <a:xfrm>
            <a:off x="548640" y="960120"/>
            <a:ext cx="2743200" cy="36576"/>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5029200" cy="457200"/>
          </a:xfrm>
          <a:prstGeom prst="rect">
            <a:avLst/>
          </a:prstGeom>
          <a:noFill/>
        </p:spPr>
        <p:txBody>
          <a:bodyPr wrap="square">
            <a:spAutoFit/>
          </a:bodyPr>
          <a:lstStyle/>
          <a:p>
            <a:pPr algn="l">
              <a:defRPr sz="1800" b="1">
                <a:solidFill>
                  <a:srgbClr val="F38BA8"/>
                </a:solidFill>
                <a:latin typeface="JetBrains Mono"/>
              </a:defRPr>
            </a:pPr>
            <a:r>
              <a:t>MCP Server (avoid)</a:t>
            </a:r>
          </a:p>
        </p:txBody>
      </p:sp>
      <p:sp>
        <p:nvSpPr>
          <p:cNvPr id="6" name="Rounded Rectangle 5"/>
          <p:cNvSpPr/>
          <p:nvPr/>
        </p:nvSpPr>
        <p:spPr>
          <a:xfrm>
            <a:off x="731520" y="1737360"/>
            <a:ext cx="5029200" cy="2011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300">
                <a:solidFill>
                  <a:srgbClr val="A6E3A1"/>
                </a:solidFill>
                <a:latin typeface="JetBrains Mono"/>
              </a:defRPr>
            </a:pPr>
            <a:r>
              <a:t># Requires .mcp.json config,</a:t>
            </a:r>
          </a:p>
          <a:p>
            <a:pPr algn="l">
              <a:spcAft>
                <a:spcPts val="200"/>
              </a:spcAft>
              <a:defRPr sz="1300">
                <a:solidFill>
                  <a:srgbClr val="A6E3A1"/>
                </a:solidFill>
                <a:latin typeface="JetBrains Mono"/>
              </a:defRPr>
            </a:pPr>
            <a:r>
              <a:t># server process running,</a:t>
            </a:r>
          </a:p>
          <a:p>
            <a:pPr algn="l">
              <a:spcAft>
                <a:spcPts val="200"/>
              </a:spcAft>
              <a:defRPr sz="1300">
                <a:solidFill>
                  <a:srgbClr val="A6E3A1"/>
                </a:solidFill>
                <a:latin typeface="JetBrains Mono"/>
              </a:defRPr>
            </a:pPr>
            <a:r>
              <a:t># JSON-RPC communication</a:t>
            </a:r>
          </a:p>
          <a:p>
            <a:pPr algn="l">
              <a:spcAft>
                <a:spcPts val="200"/>
              </a:spcAft>
              <a:defRPr sz="1300">
                <a:solidFill>
                  <a:srgbClr val="A6E3A1"/>
                </a:solidFill>
                <a:latin typeface="JetBrains Mono"/>
              </a:defRPr>
            </a:pPr>
            <a:r>
              <a:t>mcp__playwright__browser_navigate</a:t>
            </a:r>
          </a:p>
          <a:p>
            <a:pPr algn="l">
              <a:spcAft>
                <a:spcPts val="200"/>
              </a:spcAft>
              <a:defRPr sz="1300">
                <a:solidFill>
                  <a:srgbClr val="A6E3A1"/>
                </a:solidFill>
                <a:latin typeface="JetBrains Mono"/>
              </a:defRPr>
            </a:pPr>
            <a:r>
              <a:t>mcp__playwright__browser_screenshot</a:t>
            </a:r>
          </a:p>
          <a:p>
            <a:pPr algn="l">
              <a:spcAft>
                <a:spcPts val="200"/>
              </a:spcAft>
              <a:defRPr sz="1300">
                <a:solidFill>
                  <a:srgbClr val="A6E3A1"/>
                </a:solidFill>
                <a:latin typeface="JetBrains Mono"/>
              </a:defRPr>
            </a:pPr>
            <a:r>
              <a:t>mcp__playwright__browser_click</a:t>
            </a:r>
          </a:p>
        </p:txBody>
      </p:sp>
      <p:sp>
        <p:nvSpPr>
          <p:cNvPr id="7" name="TextBox 6"/>
          <p:cNvSpPr txBox="1"/>
          <p:nvPr/>
        </p:nvSpPr>
        <p:spPr>
          <a:xfrm>
            <a:off x="6400800" y="1188720"/>
            <a:ext cx="5029200" cy="457200"/>
          </a:xfrm>
          <a:prstGeom prst="rect">
            <a:avLst/>
          </a:prstGeom>
          <a:noFill/>
        </p:spPr>
        <p:txBody>
          <a:bodyPr wrap="square">
            <a:spAutoFit/>
          </a:bodyPr>
          <a:lstStyle/>
          <a:p>
            <a:pPr algn="l">
              <a:defRPr sz="1800" b="1">
                <a:solidFill>
                  <a:srgbClr val="A6E3A1"/>
                </a:solidFill>
                <a:latin typeface="JetBrains Mono"/>
              </a:defRPr>
            </a:pPr>
            <a:r>
              <a:t>CLI (prefer)</a:t>
            </a:r>
          </a:p>
        </p:txBody>
      </p:sp>
      <p:sp>
        <p:nvSpPr>
          <p:cNvPr id="8" name="Rounded Rectangle 7"/>
          <p:cNvSpPr/>
          <p:nvPr/>
        </p:nvSpPr>
        <p:spPr>
          <a:xfrm>
            <a:off x="6400800" y="1737360"/>
            <a:ext cx="5029200" cy="2011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300">
                <a:solidFill>
                  <a:srgbClr val="A6E3A1"/>
                </a:solidFill>
                <a:latin typeface="JetBrains Mono"/>
              </a:defRPr>
            </a:pPr>
            <a:r>
              <a:t># Just works via Bash tool</a:t>
            </a:r>
          </a:p>
          <a:p>
            <a:pPr algn="l">
              <a:spcAft>
                <a:spcPts val="200"/>
              </a:spcAft>
              <a:defRPr sz="1300">
                <a:solidFill>
                  <a:srgbClr val="A6E3A1"/>
                </a:solidFill>
                <a:latin typeface="JetBrains Mono"/>
              </a:defRPr>
            </a:pPr>
            <a:r>
              <a:t>npx playwright screenshot \</a:t>
            </a:r>
          </a:p>
          <a:p>
            <a:pPr algn="l">
              <a:spcAft>
                <a:spcPts val="200"/>
              </a:spcAft>
              <a:defRPr sz="1300">
                <a:solidFill>
                  <a:srgbClr val="A6E3A1"/>
                </a:solidFill>
                <a:latin typeface="JetBrains Mono"/>
              </a:defRPr>
            </a:pPr>
            <a:r>
              <a:t>  --full-page url output.png</a:t>
            </a:r>
          </a:p>
          <a:p>
            <a:pPr algn="l">
              <a:spcAft>
                <a:spcPts val="200"/>
              </a:spcAft>
              <a:defRPr sz="1300">
                <a:solidFill>
                  <a:srgbClr val="A6E3A1"/>
                </a:solidFill>
                <a:latin typeface="JetBrains Mono"/>
              </a:defRPr>
            </a:pPr>
            <a:r>
              <a:t>npx playwright test</a:t>
            </a:r>
          </a:p>
          <a:p>
            <a:pPr algn="l">
              <a:spcAft>
                <a:spcPts val="200"/>
              </a:spcAft>
              <a:defRPr sz="1300">
                <a:solidFill>
                  <a:srgbClr val="A6E3A1"/>
                </a:solidFill>
                <a:latin typeface="JetBrains Mono"/>
              </a:defRPr>
            </a:pPr>
            <a:r>
              <a:t>npx playwright test --headed</a:t>
            </a:r>
          </a:p>
          <a:p>
            <a:pPr algn="l">
              <a:spcAft>
                <a:spcPts val="200"/>
              </a:spcAft>
              <a:defRPr sz="1300">
                <a:solidFill>
                  <a:srgbClr val="A6E3A1"/>
                </a:solidFill>
                <a:latin typeface="JetBrains Mono"/>
              </a:defRPr>
            </a:pPr>
            <a:r>
              <a:t>npx playwright codegen url</a:t>
            </a:r>
          </a:p>
        </p:txBody>
      </p:sp>
      <p:sp>
        <p:nvSpPr>
          <p:cNvPr id="9" name="TextBox 8"/>
          <p:cNvSpPr txBox="1"/>
          <p:nvPr/>
        </p:nvSpPr>
        <p:spPr>
          <a:xfrm>
            <a:off x="731520" y="4114800"/>
            <a:ext cx="10058400" cy="1371600"/>
          </a:xfrm>
          <a:prstGeom prst="rect">
            <a:avLst/>
          </a:prstGeom>
          <a:noFill/>
        </p:spPr>
        <p:txBody>
          <a:bodyPr wrap="square">
            <a:spAutoFit/>
          </a:bodyPr>
          <a:lstStyle/>
          <a:p>
            <a:pPr algn="l">
              <a:defRPr sz="1600" b="0">
                <a:solidFill>
                  <a:srgbClr val="A6ADC8"/>
                </a:solidFill>
                <a:latin typeface="JetBrains Mono"/>
              </a:defRPr>
            </a:pPr>
            <a:r>
              <a:t>Playwright CLI: screenshots, test execution, code generation,</a:t>
            </a:r>
            <a:br/>
            <a:r>
              <a:t>device emulation, PDF export — all without an MCP server.</a:t>
            </a:r>
          </a:p>
        </p:txBody>
      </p:sp>
      <p:sp>
        <p:nvSpPr>
          <p:cNvPr id="10" name="Rectangle 9"/>
          <p:cNvSpPr/>
          <p:nvPr/>
        </p:nvSpPr>
        <p:spPr>
          <a:xfrm>
            <a:off x="5943600" y="1188720"/>
            <a:ext cx="36576" cy="2743200"/>
          </a:xfrm>
          <a:prstGeom prst="rect">
            <a:avLst/>
          </a:prstGeom>
          <a:solidFill>
            <a:srgbClr val="45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Why CLI Always Wins</a:t>
            </a:r>
          </a:p>
        </p:txBody>
      </p:sp>
      <p:sp>
        <p:nvSpPr>
          <p:cNvPr id="4" name="Rectangle 3"/>
          <p:cNvSpPr/>
          <p:nvPr/>
        </p:nvSpPr>
        <p:spPr>
          <a:xfrm>
            <a:off x="548640" y="960120"/>
            <a:ext cx="2743200" cy="36576"/>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114800"/>
          </a:xfrm>
          <a:prstGeom prst="rect">
            <a:avLst/>
          </a:prstGeom>
          <a:noFill/>
        </p:spPr>
        <p:txBody>
          <a:bodyPr wrap="square">
            <a:spAutoFit/>
          </a:bodyPr>
          <a:lstStyle/>
          <a:p>
            <a:pPr>
              <a:spcAft>
                <a:spcPts val="1600"/>
              </a:spcAft>
            </a:pPr>
            <a:r>
              <a:rPr sz="1800" b="1">
                <a:solidFill>
                  <a:srgbClr val="F9E2AF"/>
                </a:solidFill>
                <a:latin typeface="JetBrains Mono"/>
              </a:rPr>
              <a:t>No config       </a:t>
            </a:r>
            <a:r>
              <a:rPr sz="1800">
                <a:solidFill>
                  <a:srgbClr val="CDD6F4"/>
                </a:solidFill>
                <a:latin typeface="JetBrains Mono"/>
              </a:rPr>
              <a:t>No .mcp.json, no server setup, no version pinning</a:t>
            </a:r>
          </a:p>
          <a:p>
            <a:pPr>
              <a:spcAft>
                <a:spcPts val="1600"/>
              </a:spcAft>
            </a:pPr>
            <a:r>
              <a:rPr sz="1800" b="1">
                <a:solidFill>
                  <a:srgbClr val="F9E2AF"/>
                </a:solidFill>
                <a:latin typeface="JetBrains Mono"/>
              </a:rPr>
              <a:t>No process       </a:t>
            </a:r>
            <a:r>
              <a:rPr sz="1800">
                <a:solidFill>
                  <a:srgbClr val="CDD6F4"/>
                </a:solidFill>
                <a:latin typeface="JetBrains Mono"/>
              </a:rPr>
              <a:t>No background server to start, monitor, or restart</a:t>
            </a:r>
          </a:p>
          <a:p>
            <a:pPr>
              <a:spcAft>
                <a:spcPts val="1600"/>
              </a:spcAft>
            </a:pPr>
            <a:r>
              <a:rPr sz="1800" b="1">
                <a:solidFill>
                  <a:srgbClr val="F9E2AF"/>
                </a:solidFill>
                <a:latin typeface="JetBrains Mono"/>
              </a:rPr>
              <a:t>Transparent      </a:t>
            </a:r>
            <a:r>
              <a:rPr sz="1800">
                <a:solidFill>
                  <a:srgbClr val="CDD6F4"/>
                </a:solidFill>
                <a:latin typeface="JetBrains Mono"/>
              </a:rPr>
              <a:t>You see the exact command that runs in Bash</a:t>
            </a:r>
          </a:p>
          <a:p>
            <a:pPr>
              <a:spcAft>
                <a:spcPts val="1600"/>
              </a:spcAft>
            </a:pPr>
            <a:r>
              <a:rPr sz="1800" b="1">
                <a:solidFill>
                  <a:srgbClr val="F9E2AF"/>
                </a:solidFill>
                <a:latin typeface="JetBrains Mono"/>
              </a:rPr>
              <a:t>Debuggable       </a:t>
            </a:r>
            <a:r>
              <a:rPr sz="1800">
                <a:solidFill>
                  <a:srgbClr val="CDD6F4"/>
                </a:solidFill>
                <a:latin typeface="JetBrains Mono"/>
              </a:rPr>
              <a:t>Run the same command yourself to reproduce issues</a:t>
            </a:r>
          </a:p>
          <a:p>
            <a:pPr>
              <a:spcAft>
                <a:spcPts val="1600"/>
              </a:spcAft>
            </a:pPr>
            <a:r>
              <a:rPr sz="1800" b="1">
                <a:solidFill>
                  <a:srgbClr val="F9E2AF"/>
                </a:solidFill>
                <a:latin typeface="JetBrains Mono"/>
              </a:rPr>
              <a:t>Portable         </a:t>
            </a:r>
            <a:r>
              <a:rPr sz="1800">
                <a:solidFill>
                  <a:srgbClr val="CDD6F4"/>
                </a:solidFill>
                <a:latin typeface="JetBrains Mono"/>
              </a:rPr>
              <a:t>Works on any machine where the tool is installed</a:t>
            </a:r>
          </a:p>
          <a:p>
            <a:pPr>
              <a:spcAft>
                <a:spcPts val="1600"/>
              </a:spcAft>
            </a:pPr>
            <a:r>
              <a:rPr sz="1800" b="1">
                <a:solidFill>
                  <a:srgbClr val="F9E2AF"/>
                </a:solidFill>
                <a:latin typeface="JetBrains Mono"/>
              </a:rPr>
              <a:t>Composable       </a:t>
            </a:r>
            <a:r>
              <a:rPr sz="1800">
                <a:solidFill>
                  <a:srgbClr val="CDD6F4"/>
                </a:solidFill>
                <a:latin typeface="JetBrains Mono"/>
              </a:rPr>
              <a:t>Pipe output, chain commands, use shell features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The Rule</a:t>
            </a:r>
          </a:p>
        </p:txBody>
      </p:sp>
      <p:sp>
        <p:nvSpPr>
          <p:cNvPr id="4" name="Rectangle 3"/>
          <p:cNvSpPr/>
          <p:nvPr/>
        </p:nvSpPr>
        <p:spPr>
          <a:xfrm>
            <a:off x="548640" y="960120"/>
            <a:ext cx="2743200" cy="36576"/>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1600" y="1645920"/>
            <a:ext cx="9144000" cy="2286000"/>
          </a:xfrm>
          <a:prstGeom prst="round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defRPr sz="2600" b="1">
                <a:solidFill>
                  <a:srgbClr val="FAB387"/>
                </a:solidFill>
                <a:latin typeface="JetBrains Mono"/>
              </a:defRPr>
            </a:pPr>
            <a:r>
              <a:t>If a tool has a CLI, use the CLI via Bash.</a:t>
            </a:r>
          </a:p>
          <a:p>
            <a:pPr algn="ctr">
              <a:spcBef>
                <a:spcPts val="1200"/>
              </a:spcBef>
              <a:defRPr sz="2200">
                <a:solidFill>
                  <a:srgbClr val="CDD6F4"/>
                </a:solidFill>
                <a:latin typeface="JetBrains Mono"/>
              </a:defRPr>
            </a:pPr>
            <a:r>
              <a:t>Only reach for an MCP server when there is</a:t>
            </a:r>
          </a:p>
          <a:p>
            <a:pPr algn="ctr">
              <a:defRPr sz="2200">
                <a:solidFill>
                  <a:srgbClr val="CDD6F4"/>
                </a:solidFill>
                <a:latin typeface="JetBrains Mono"/>
              </a:defRPr>
            </a:pPr>
            <a:r>
              <a:t>no CLI alternative at all.</a:t>
            </a:r>
          </a:p>
        </p:txBody>
      </p:sp>
      <p:sp>
        <p:nvSpPr>
          <p:cNvPr id="6" name="TextBox 5"/>
          <p:cNvSpPr txBox="1"/>
          <p:nvPr/>
        </p:nvSpPr>
        <p:spPr>
          <a:xfrm>
            <a:off x="731520" y="4389120"/>
            <a:ext cx="10058400" cy="1828800"/>
          </a:xfrm>
          <a:prstGeom prst="rect">
            <a:avLst/>
          </a:prstGeom>
          <a:noFill/>
        </p:spPr>
        <p:txBody>
          <a:bodyPr wrap="square">
            <a:spAutoFit/>
          </a:bodyPr>
          <a:lstStyle/>
          <a:p>
            <a:pPr>
              <a:spcAft>
                <a:spcPts val="1000"/>
              </a:spcAft>
            </a:pPr>
            <a:r>
              <a:rPr sz="1600" b="1">
                <a:solidFill>
                  <a:srgbClr val="FAB387"/>
                </a:solidFill>
                <a:latin typeface="JetBrains Mono"/>
              </a:rPr>
              <a:t>• </a:t>
            </a:r>
            <a:r>
              <a:rPr sz="1600">
                <a:solidFill>
                  <a:srgbClr val="CDD6F4"/>
                </a:solidFill>
                <a:latin typeface="JetBrains Mono"/>
              </a:rPr>
              <a:t>Playwright has a CLI → use npx playwright, not the MCP server</a:t>
            </a:r>
          </a:p>
          <a:p>
            <a:pPr>
              <a:spcAft>
                <a:spcPts val="1000"/>
              </a:spcAft>
            </a:pPr>
            <a:r>
              <a:rPr sz="1600" b="1">
                <a:solidFill>
                  <a:srgbClr val="FAB387"/>
                </a:solidFill>
                <a:latin typeface="JetBrains Mono"/>
              </a:rPr>
              <a:t>• </a:t>
            </a:r>
            <a:r>
              <a:rPr sz="1600">
                <a:solidFill>
                  <a:srgbClr val="CDD6F4"/>
                </a:solidFill>
                <a:latin typeface="JetBrains Mono"/>
              </a:rPr>
              <a:t>Repomix has a CLI → use npx repomix, not the MCP server</a:t>
            </a:r>
          </a:p>
          <a:p>
            <a:pPr>
              <a:spcAft>
                <a:spcPts val="1000"/>
              </a:spcAft>
            </a:pPr>
            <a:r>
              <a:rPr sz="1600" b="1">
                <a:solidFill>
                  <a:srgbClr val="FAB387"/>
                </a:solidFill>
                <a:latin typeface="JetBrains Mono"/>
              </a:rPr>
              <a:t>• </a:t>
            </a:r>
            <a:r>
              <a:rPr sz="1600">
                <a:solidFill>
                  <a:srgbClr val="CDD6F4"/>
                </a:solidFill>
                <a:latin typeface="JetBrains Mono"/>
              </a:rPr>
              <a:t>git, npm, cargo, uv → already CLI tools, never need MCP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4000" b="1">
                <a:solidFill>
                  <a:srgbClr val="CDD6F4"/>
                </a:solidFill>
                <a:latin typeface="JetBrains Mono"/>
              </a:defRPr>
            </a:pPr>
            <a:r>
              <a:t>AI Developer Workflow</a:t>
            </a:r>
          </a:p>
        </p:txBody>
      </p:sp>
      <p:sp>
        <p:nvSpPr>
          <p:cNvPr id="5" name="TextBox 4"/>
          <p:cNvSpPr txBox="1"/>
          <p:nvPr/>
        </p:nvSpPr>
        <p:spPr>
          <a:xfrm>
            <a:off x="914400" y="3657600"/>
            <a:ext cx="10058400" cy="548640"/>
          </a:xfrm>
          <a:prstGeom prst="rect">
            <a:avLst/>
          </a:prstGeom>
          <a:noFill/>
        </p:spPr>
        <p:txBody>
          <a:bodyPr wrap="square">
            <a:spAutoFit/>
          </a:bodyPr>
          <a:lstStyle/>
          <a:p>
            <a:pPr algn="ctr">
              <a:defRPr sz="2000" b="0">
                <a:solidFill>
                  <a:srgbClr val="A6ADC8"/>
                </a:solidFill>
                <a:latin typeface="JetBrains Mono"/>
              </a:defRPr>
            </a:pPr>
            <a:r>
              <a:t>Plan → Build → Test → Review → Document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Running Claude Code Programmatically</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The Agent SDK enables automated workflows like ADW:</a:t>
            </a:r>
          </a:p>
        </p:txBody>
      </p:sp>
      <p:sp>
        <p:nvSpPr>
          <p:cNvPr id="6" name="TextBox 5"/>
          <p:cNvSpPr txBox="1"/>
          <p:nvPr/>
        </p:nvSpPr>
        <p:spPr>
          <a:xfrm>
            <a:off x="731520" y="2011680"/>
            <a:ext cx="10058400" cy="2286000"/>
          </a:xfrm>
          <a:prstGeom prst="rect">
            <a:avLst/>
          </a:prstGeom>
          <a:noFill/>
        </p:spPr>
        <p:txBody>
          <a:bodyPr wrap="square">
            <a:spAutoFit/>
          </a:bodyPr>
          <a:lstStyle/>
          <a:p>
            <a:pPr>
              <a:spcAft>
                <a:spcPts val="1400"/>
              </a:spcAft>
            </a:pPr>
            <a:r>
              <a:rPr sz="1800" b="1">
                <a:solidFill>
                  <a:srgbClr val="A6E3A1"/>
                </a:solidFill>
                <a:latin typeface="JetBrains Mono"/>
              </a:rPr>
              <a:t>• </a:t>
            </a:r>
            <a:r>
              <a:rPr sz="1800">
                <a:solidFill>
                  <a:srgbClr val="CDD6F4"/>
                </a:solidFill>
                <a:latin typeface="JetBrains Mono"/>
              </a:rPr>
              <a:t>claude -p runs Claude Code non-interactively from scripts</a:t>
            </a:r>
          </a:p>
          <a:p>
            <a:pPr>
              <a:spcAft>
                <a:spcPts val="1400"/>
              </a:spcAft>
            </a:pPr>
            <a:r>
              <a:rPr sz="1800" b="1">
                <a:solidFill>
                  <a:srgbClr val="A6E3A1"/>
                </a:solidFill>
                <a:latin typeface="JetBrains Mono"/>
              </a:rPr>
              <a:t>• </a:t>
            </a:r>
            <a:r>
              <a:rPr sz="1800">
                <a:solidFill>
                  <a:srgbClr val="CDD6F4"/>
                </a:solidFill>
                <a:latin typeface="JetBrains Mono"/>
              </a:rPr>
              <a:t>Same tools, agent loop, and context as interactive mode</a:t>
            </a:r>
          </a:p>
          <a:p>
            <a:pPr>
              <a:spcAft>
                <a:spcPts val="1400"/>
              </a:spcAft>
            </a:pPr>
            <a:r>
              <a:rPr sz="1800" b="1">
                <a:solidFill>
                  <a:srgbClr val="A6E3A1"/>
                </a:solidFill>
                <a:latin typeface="JetBrains Mono"/>
              </a:rPr>
              <a:t>• </a:t>
            </a:r>
            <a:r>
              <a:rPr sz="1800">
                <a:solidFill>
                  <a:srgbClr val="CDD6F4"/>
                </a:solidFill>
                <a:latin typeface="JetBrains Mono"/>
              </a:rPr>
              <a:t>Available as CLI, Python SDK, and TypeScript SDK</a:t>
            </a:r>
          </a:p>
          <a:p>
            <a:pPr>
              <a:spcAft>
                <a:spcPts val="1400"/>
              </a:spcAft>
            </a:pPr>
            <a:r>
              <a:rPr sz="1800" b="1">
                <a:solidFill>
                  <a:srgbClr val="A6E3A1"/>
                </a:solidFill>
                <a:latin typeface="JetBrains Mono"/>
              </a:rPr>
              <a:t>• </a:t>
            </a:r>
            <a:r>
              <a:rPr sz="1800">
                <a:solidFill>
                  <a:srgbClr val="CDD6F4"/>
                </a:solidFill>
                <a:latin typeface="JetBrains Mono"/>
              </a:rPr>
              <a:t>This is the foundation that makes ADW possible</a:t>
            </a:r>
          </a:p>
        </p:txBody>
      </p:sp>
      <p:sp>
        <p:nvSpPr>
          <p:cNvPr id="7" name="Rounded Rectangle 6"/>
          <p:cNvSpPr/>
          <p:nvPr/>
        </p:nvSpPr>
        <p:spPr>
          <a:xfrm>
            <a:off x="731520" y="4206240"/>
            <a:ext cx="10515600" cy="2011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400">
                <a:solidFill>
                  <a:srgbClr val="A6E3A1"/>
                </a:solidFill>
                <a:latin typeface="JetBrains Mono"/>
              </a:defRPr>
            </a:pPr>
            <a:r>
              <a:t># Run Claude Code from a script</a:t>
            </a:r>
          </a:p>
          <a:p>
            <a:pPr algn="l">
              <a:spcAft>
                <a:spcPts val="200"/>
              </a:spcAft>
              <a:defRPr sz="1400">
                <a:solidFill>
                  <a:srgbClr val="A6E3A1"/>
                </a:solidFill>
                <a:latin typeface="JetBrains Mono"/>
              </a:defRPr>
            </a:pPr>
            <a:r>
              <a:t>claude -p "Find and fix the bug in auth.py" \</a:t>
            </a:r>
          </a:p>
          <a:p>
            <a:pPr algn="l">
              <a:spcAft>
                <a:spcPts val="200"/>
              </a:spcAft>
              <a:defRPr sz="1400">
                <a:solidFill>
                  <a:srgbClr val="A6E3A1"/>
                </a:solidFill>
                <a:latin typeface="JetBrains Mono"/>
              </a:defRPr>
            </a:pPr>
            <a:r>
              <a:t>  --allowedTools "Read,Edit,Bash"</a:t>
            </a:r>
          </a:p>
          <a:p>
            <a:pPr algn="l">
              <a:spcAft>
                <a:spcPts val="200"/>
              </a:spcAft>
              <a:defRPr sz="1400">
                <a:solidFill>
                  <a:srgbClr val="A6E3A1"/>
                </a:solidFill>
                <a:latin typeface="JetBrains Mono"/>
              </a:defRPr>
            </a:pPr>
          </a:p>
          <a:p>
            <a:pPr algn="l">
              <a:spcAft>
                <a:spcPts val="200"/>
              </a:spcAft>
              <a:defRPr sz="1400">
                <a:solidFill>
                  <a:srgbClr val="A6E3A1"/>
                </a:solidFill>
                <a:latin typeface="JetBrains Mono"/>
              </a:defRPr>
            </a:pPr>
            <a:r>
              <a:t># ADW scripts use this under the hood:</a:t>
            </a:r>
          </a:p>
          <a:p>
            <a:pPr algn="l">
              <a:spcAft>
                <a:spcPts val="200"/>
              </a:spcAft>
              <a:defRPr sz="1400">
                <a:solidFill>
                  <a:srgbClr val="A6E3A1"/>
                </a:solidFill>
                <a:latin typeface="JetBrains Mono"/>
              </a:defRPr>
            </a:pPr>
            <a:r>
              <a:t>claude -p "$prompt" --allowedTools "..." --output-format json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Agent SDK: Key Capabilities</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94E2D5"/>
                </a:solidFill>
                <a:latin typeface="JetBrains Mono"/>
              </a:defRPr>
            </a:pPr>
            <a:r>
              <a:t>CLI (claude -p)</a:t>
            </a:r>
          </a:p>
        </p:txBody>
      </p:sp>
      <p:sp>
        <p:nvSpPr>
          <p:cNvPr id="6" name="TextBox 5"/>
          <p:cNvSpPr txBox="1"/>
          <p:nvPr/>
        </p:nvSpPr>
        <p:spPr>
          <a:xfrm>
            <a:off x="731520" y="1828800"/>
            <a:ext cx="5029200" cy="4114800"/>
          </a:xfrm>
          <a:prstGeom prst="rect">
            <a:avLst/>
          </a:prstGeom>
          <a:noFill/>
        </p:spPr>
        <p:txBody>
          <a:bodyPr wrap="square">
            <a:spAutoFit/>
          </a:bodyPr>
          <a:lstStyle/>
          <a:p>
            <a:pPr>
              <a:spcAft>
                <a:spcPts val="1000"/>
              </a:spcAft>
            </a:pPr>
            <a:r>
              <a:rPr sz="1500" b="1">
                <a:solidFill>
                  <a:srgbClr val="94E2D5"/>
                </a:solidFill>
                <a:latin typeface="JetBrains Mono"/>
              </a:rPr>
              <a:t>• </a:t>
            </a:r>
            <a:r>
              <a:rPr sz="1500">
                <a:solidFill>
                  <a:srgbClr val="CDD6F4"/>
                </a:solidFill>
                <a:latin typeface="JetBrains Mono"/>
              </a:rPr>
              <a:t>--allowedTools to auto-approve tools</a:t>
            </a:r>
          </a:p>
          <a:p>
            <a:pPr>
              <a:spcAft>
                <a:spcPts val="1000"/>
              </a:spcAft>
            </a:pPr>
            <a:r>
              <a:rPr sz="1500" b="1">
                <a:solidFill>
                  <a:srgbClr val="94E2D5"/>
                </a:solidFill>
                <a:latin typeface="JetBrains Mono"/>
              </a:rPr>
              <a:t>• </a:t>
            </a:r>
            <a:r>
              <a:rPr sz="1500">
                <a:solidFill>
                  <a:srgbClr val="CDD6F4"/>
                </a:solidFill>
                <a:latin typeface="JetBrains Mono"/>
              </a:rPr>
              <a:t>--output-format json for structured output</a:t>
            </a:r>
          </a:p>
          <a:p>
            <a:pPr>
              <a:spcAft>
                <a:spcPts val="1000"/>
              </a:spcAft>
            </a:pPr>
            <a:r>
              <a:rPr sz="1500" b="1">
                <a:solidFill>
                  <a:srgbClr val="94E2D5"/>
                </a:solidFill>
                <a:latin typeface="JetBrains Mono"/>
              </a:rPr>
              <a:t>• </a:t>
            </a:r>
            <a:r>
              <a:rPr sz="1500">
                <a:solidFill>
                  <a:srgbClr val="CDD6F4"/>
                </a:solidFill>
                <a:latin typeface="JetBrains Mono"/>
              </a:rPr>
              <a:t>--bare for fast, reproducible runs</a:t>
            </a:r>
          </a:p>
          <a:p>
            <a:pPr>
              <a:spcAft>
                <a:spcPts val="1000"/>
              </a:spcAft>
            </a:pPr>
            <a:r>
              <a:rPr sz="1500" b="1">
                <a:solidFill>
                  <a:srgbClr val="94E2D5"/>
                </a:solidFill>
                <a:latin typeface="JetBrains Mono"/>
              </a:rPr>
              <a:t>• </a:t>
            </a:r>
            <a:r>
              <a:rPr sz="1500">
                <a:solidFill>
                  <a:srgbClr val="CDD6F4"/>
                </a:solidFill>
                <a:latin typeface="JetBrains Mono"/>
              </a:rPr>
              <a:t>--continue / --resume for multi-turn</a:t>
            </a:r>
          </a:p>
          <a:p>
            <a:pPr>
              <a:spcAft>
                <a:spcPts val="1000"/>
              </a:spcAft>
            </a:pPr>
            <a:r>
              <a:rPr sz="1500" b="1">
                <a:solidFill>
                  <a:srgbClr val="94E2D5"/>
                </a:solidFill>
                <a:latin typeface="JetBrains Mono"/>
              </a:rPr>
              <a:t>• </a:t>
            </a:r>
            <a:r>
              <a:rPr sz="1500">
                <a:solidFill>
                  <a:srgbClr val="CDD6F4"/>
                </a:solidFill>
                <a:latin typeface="JetBrains Mono"/>
              </a:rPr>
              <a:t>--append-system-prompt for custom instructions</a:t>
            </a:r>
          </a:p>
        </p:txBody>
      </p:sp>
      <p:sp>
        <p:nvSpPr>
          <p:cNvPr id="7" name="TextBox 6"/>
          <p:cNvSpPr txBox="1"/>
          <p:nvPr/>
        </p:nvSpPr>
        <p:spPr>
          <a:xfrm>
            <a:off x="6400800" y="1188720"/>
            <a:ext cx="5029200" cy="457200"/>
          </a:xfrm>
          <a:prstGeom prst="rect">
            <a:avLst/>
          </a:prstGeom>
          <a:noFill/>
        </p:spPr>
        <p:txBody>
          <a:bodyPr wrap="square">
            <a:spAutoFit/>
          </a:bodyPr>
          <a:lstStyle/>
          <a:p>
            <a:pPr algn="l">
              <a:defRPr sz="2000" b="1">
                <a:solidFill>
                  <a:srgbClr val="74C7EC"/>
                </a:solidFill>
                <a:latin typeface="JetBrains Mono"/>
              </a:defRPr>
            </a:pPr>
            <a:r>
              <a:t>Python / TypeScript SDK</a:t>
            </a:r>
          </a:p>
        </p:txBody>
      </p:sp>
      <p:sp>
        <p:nvSpPr>
          <p:cNvPr id="8" name="TextBox 7"/>
          <p:cNvSpPr txBox="1"/>
          <p:nvPr/>
        </p:nvSpPr>
        <p:spPr>
          <a:xfrm>
            <a:off x="6400800" y="1828800"/>
            <a:ext cx="5029200" cy="4114800"/>
          </a:xfrm>
          <a:prstGeom prst="rect">
            <a:avLst/>
          </a:prstGeom>
          <a:noFill/>
        </p:spPr>
        <p:txBody>
          <a:bodyPr wrap="square">
            <a:spAutoFit/>
          </a:bodyPr>
          <a:lstStyle/>
          <a:p>
            <a:pPr>
              <a:spcAft>
                <a:spcPts val="1000"/>
              </a:spcAft>
            </a:pPr>
            <a:r>
              <a:rPr sz="1500" b="1">
                <a:solidFill>
                  <a:srgbClr val="74C7EC"/>
                </a:solidFill>
                <a:latin typeface="JetBrains Mono"/>
              </a:rPr>
              <a:t>• </a:t>
            </a:r>
            <a:r>
              <a:rPr sz="1500">
                <a:solidFill>
                  <a:srgbClr val="CDD6F4"/>
                </a:solidFill>
                <a:latin typeface="JetBrains Mono"/>
              </a:rPr>
              <a:t>Full programmatic control</a:t>
            </a:r>
          </a:p>
          <a:p>
            <a:pPr>
              <a:spcAft>
                <a:spcPts val="1000"/>
              </a:spcAft>
            </a:pPr>
            <a:r>
              <a:rPr sz="1500" b="1">
                <a:solidFill>
                  <a:srgbClr val="74C7EC"/>
                </a:solidFill>
                <a:latin typeface="JetBrains Mono"/>
              </a:rPr>
              <a:t>• </a:t>
            </a:r>
            <a:r>
              <a:rPr sz="1500">
                <a:solidFill>
                  <a:srgbClr val="CDD6F4"/>
                </a:solidFill>
                <a:latin typeface="JetBrains Mono"/>
              </a:rPr>
              <a:t>Structured outputs with JSON schema</a:t>
            </a:r>
          </a:p>
          <a:p>
            <a:pPr>
              <a:spcAft>
                <a:spcPts val="1000"/>
              </a:spcAft>
            </a:pPr>
            <a:r>
              <a:rPr sz="1500" b="1">
                <a:solidFill>
                  <a:srgbClr val="74C7EC"/>
                </a:solidFill>
                <a:latin typeface="JetBrains Mono"/>
              </a:rPr>
              <a:t>• </a:t>
            </a:r>
            <a:r>
              <a:rPr sz="1500">
                <a:solidFill>
                  <a:srgbClr val="CDD6F4"/>
                </a:solidFill>
                <a:latin typeface="JetBrains Mono"/>
              </a:rPr>
              <a:t>Tool approval callbacks</a:t>
            </a:r>
          </a:p>
          <a:p>
            <a:pPr>
              <a:spcAft>
                <a:spcPts val="1000"/>
              </a:spcAft>
            </a:pPr>
            <a:r>
              <a:rPr sz="1500" b="1">
                <a:solidFill>
                  <a:srgbClr val="74C7EC"/>
                </a:solidFill>
                <a:latin typeface="JetBrains Mono"/>
              </a:rPr>
              <a:t>• </a:t>
            </a:r>
            <a:r>
              <a:rPr sz="1500">
                <a:solidFill>
                  <a:srgbClr val="CDD6F4"/>
                </a:solidFill>
                <a:latin typeface="JetBrains Mono"/>
              </a:rPr>
              <a:t>Streaming with real-time events</a:t>
            </a:r>
          </a:p>
          <a:p>
            <a:pPr>
              <a:spcAft>
                <a:spcPts val="1000"/>
              </a:spcAft>
            </a:pPr>
            <a:r>
              <a:rPr sz="1500" b="1">
                <a:solidFill>
                  <a:srgbClr val="74C7EC"/>
                </a:solidFill>
                <a:latin typeface="JetBrains Mono"/>
              </a:rPr>
              <a:t>• </a:t>
            </a:r>
            <a:r>
              <a:rPr sz="1500">
                <a:solidFill>
                  <a:srgbClr val="CDD6F4"/>
                </a:solidFill>
                <a:latin typeface="JetBrains Mono"/>
              </a:rPr>
              <a:t>CI/CD integration (GitHub Actions, GitLab)</a:t>
            </a:r>
          </a:p>
        </p:txBody>
      </p:sp>
      <p:sp>
        <p:nvSpPr>
          <p:cNvPr id="9" name="Rectangle 8"/>
          <p:cNvSpPr/>
          <p:nvPr/>
        </p:nvSpPr>
        <p:spPr>
          <a:xfrm>
            <a:off x="5943600" y="1188720"/>
            <a:ext cx="36576" cy="4572000"/>
          </a:xfrm>
          <a:prstGeom prst="rect">
            <a:avLst/>
          </a:prstGeom>
          <a:solidFill>
            <a:srgbClr val="454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Why This Enables ADW</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0"/>
            <a:ext cx="10515600" cy="228600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400">
                <a:solidFill>
                  <a:srgbClr val="A6E3A1"/>
                </a:solidFill>
                <a:latin typeface="JetBrains Mono"/>
              </a:defRPr>
            </a:pPr>
            <a:r>
              <a:t># Each ADW phase is a programmatic Claude Code call</a:t>
            </a:r>
          </a:p>
          <a:p>
            <a:pPr algn="l">
              <a:spcAft>
                <a:spcPts val="200"/>
              </a:spcAft>
              <a:defRPr sz="1400">
                <a:solidFill>
                  <a:srgbClr val="A6E3A1"/>
                </a:solidFill>
                <a:latin typeface="JetBrains Mono"/>
              </a:defRPr>
            </a:pPr>
            <a:r>
              <a:t>result = subprocess.run([</a:t>
            </a:r>
          </a:p>
          <a:p>
            <a:pPr algn="l">
              <a:spcAft>
                <a:spcPts val="200"/>
              </a:spcAft>
              <a:defRPr sz="1400">
                <a:solidFill>
                  <a:srgbClr val="A6E3A1"/>
                </a:solidFill>
                <a:latin typeface="JetBrains Mono"/>
              </a:defRPr>
            </a:pPr>
            <a:r>
              <a:t>    "claude", "-p", plan_prompt,</a:t>
            </a:r>
          </a:p>
          <a:p>
            <a:pPr algn="l">
              <a:spcAft>
                <a:spcPts val="200"/>
              </a:spcAft>
              <a:defRPr sz="1400">
                <a:solidFill>
                  <a:srgbClr val="A6E3A1"/>
                </a:solidFill>
                <a:latin typeface="JetBrains Mono"/>
              </a:defRPr>
            </a:pPr>
            <a:r>
              <a:t>    "--allowedTools", "Read,Edit,Bash,Write,Glob,Grep",</a:t>
            </a:r>
          </a:p>
          <a:p>
            <a:pPr algn="l">
              <a:spcAft>
                <a:spcPts val="200"/>
              </a:spcAft>
              <a:defRPr sz="1400">
                <a:solidFill>
                  <a:srgbClr val="A6E3A1"/>
                </a:solidFill>
                <a:latin typeface="JetBrains Mono"/>
              </a:defRPr>
            </a:pPr>
            <a:r>
              <a:t>    "--output-format", "json",</a:t>
            </a:r>
          </a:p>
          <a:p>
            <a:pPr algn="l">
              <a:spcAft>
                <a:spcPts val="200"/>
              </a:spcAft>
              <a:defRPr sz="1400">
                <a:solidFill>
                  <a:srgbClr val="A6E3A1"/>
                </a:solidFill>
                <a:latin typeface="JetBrains Mono"/>
              </a:defRPr>
            </a:pPr>
            <a:r>
              <a:t>    "--append-system-prompt", system_context</a:t>
            </a:r>
          </a:p>
          <a:p>
            <a:pPr algn="l">
              <a:spcAft>
                <a:spcPts val="200"/>
              </a:spcAft>
              <a:defRPr sz="1400">
                <a:solidFill>
                  <a:srgbClr val="A6E3A1"/>
                </a:solidFill>
                <a:latin typeface="JetBrains Mono"/>
              </a:defRPr>
            </a:pPr>
            <a:r>
              <a:t>])</a:t>
            </a:r>
          </a:p>
        </p:txBody>
      </p:sp>
      <p:sp>
        <p:nvSpPr>
          <p:cNvPr id="6" name="TextBox 5"/>
          <p:cNvSpPr txBox="1"/>
          <p:nvPr/>
        </p:nvSpPr>
        <p:spPr>
          <a:xfrm>
            <a:off x="731520" y="3840480"/>
            <a:ext cx="10058400" cy="2560320"/>
          </a:xfrm>
          <a:prstGeom prst="rect">
            <a:avLst/>
          </a:prstGeom>
          <a:noFill/>
        </p:spPr>
        <p:txBody>
          <a:bodyPr wrap="square">
            <a:spAutoFit/>
          </a:bodyPr>
          <a:lstStyle/>
          <a:p>
            <a:pPr>
              <a:spcAft>
                <a:spcPts val="1200"/>
              </a:spcAft>
            </a:pPr>
            <a:r>
              <a:rPr sz="1700" b="1">
                <a:solidFill>
                  <a:srgbClr val="A6E3A1"/>
                </a:solidFill>
                <a:latin typeface="JetBrains Mono"/>
              </a:rPr>
              <a:t>• </a:t>
            </a:r>
            <a:r>
              <a:rPr sz="1700">
                <a:solidFill>
                  <a:srgbClr val="CDD6F4"/>
                </a:solidFill>
                <a:latin typeface="JetBrains Mono"/>
              </a:rPr>
              <a:t>Each SDLC phase runs as an isolated claude -p call</a:t>
            </a:r>
          </a:p>
          <a:p>
            <a:pPr>
              <a:spcAft>
                <a:spcPts val="1200"/>
              </a:spcAft>
            </a:pPr>
            <a:r>
              <a:rPr sz="1700" b="1">
                <a:solidFill>
                  <a:srgbClr val="A6E3A1"/>
                </a:solidFill>
                <a:latin typeface="JetBrains Mono"/>
              </a:rPr>
              <a:t>• </a:t>
            </a:r>
            <a:r>
              <a:rPr sz="1700">
                <a:solidFill>
                  <a:srgbClr val="CDD6F4"/>
                </a:solidFill>
                <a:latin typeface="JetBrains Mono"/>
              </a:rPr>
              <a:t>Structured JSON output lets scripts parse results</a:t>
            </a:r>
          </a:p>
          <a:p>
            <a:pPr>
              <a:spcAft>
                <a:spcPts val="1200"/>
              </a:spcAft>
            </a:pPr>
            <a:r>
              <a:rPr sz="1700" b="1">
                <a:solidFill>
                  <a:srgbClr val="A6E3A1"/>
                </a:solidFill>
                <a:latin typeface="JetBrains Mono"/>
              </a:rPr>
              <a:t>• </a:t>
            </a:r>
            <a:r>
              <a:rPr sz="1700">
                <a:solidFill>
                  <a:srgbClr val="CDD6F4"/>
                </a:solidFill>
                <a:latin typeface="JetBrains Mono"/>
              </a:rPr>
              <a:t>Tool approval flags enable unattended execution</a:t>
            </a:r>
          </a:p>
          <a:p>
            <a:pPr>
              <a:spcAft>
                <a:spcPts val="1200"/>
              </a:spcAft>
            </a:pPr>
            <a:r>
              <a:rPr sz="1700" b="1">
                <a:solidFill>
                  <a:srgbClr val="A6E3A1"/>
                </a:solidFill>
                <a:latin typeface="JetBrains Mono"/>
              </a:rPr>
              <a:t>• </a:t>
            </a:r>
            <a:r>
              <a:rPr sz="1700">
                <a:solidFill>
                  <a:srgbClr val="CDD6F4"/>
                </a:solidFill>
                <a:latin typeface="JetBrains Mono"/>
              </a:rPr>
              <a:t>Worktrees provide filesystem isolation between phases</a:t>
            </a:r>
          </a:p>
          <a:p>
            <a:pPr>
              <a:spcAft>
                <a:spcPts val="1200"/>
              </a:spcAft>
            </a:pPr>
            <a:r>
              <a:rPr sz="1700" b="1">
                <a:solidFill>
                  <a:srgbClr val="A6E3A1"/>
                </a:solidFill>
                <a:latin typeface="JetBrains Mono"/>
              </a:rPr>
              <a:t>• </a:t>
            </a:r>
            <a:r>
              <a:rPr sz="1700">
                <a:solidFill>
                  <a:srgbClr val="CDD6F4"/>
                </a:solidFill>
                <a:latin typeface="JetBrains Mono"/>
              </a:rPr>
              <a:t>Scripts orchestrate the sequence: plan → build → test → review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The SDLC Pipeline</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Five phases, each with its own agent and toolset:</a:t>
            </a:r>
          </a:p>
        </p:txBody>
      </p:sp>
      <p:sp>
        <p:nvSpPr>
          <p:cNvPr id="6" name="Rounded Rectangle 5"/>
          <p:cNvSpPr/>
          <p:nvPr/>
        </p:nvSpPr>
        <p:spPr>
          <a:xfrm>
            <a:off x="548640" y="2194560"/>
            <a:ext cx="2011680" cy="3200400"/>
          </a:xfrm>
          <a:prstGeom prst="roundRect">
            <a:avLst/>
          </a:prstGeom>
          <a:solidFill>
            <a:srgbClr val="313244"/>
          </a:solidFill>
          <a:ln w="25400">
            <a:solidFill>
              <a:srgbClr val="89B4F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200" b="1">
                <a:solidFill>
                  <a:srgbClr val="89B4FA"/>
                </a:solidFill>
                <a:latin typeface="JetBrains Mono"/>
              </a:defRPr>
            </a:pPr>
            <a:r>
              <a:t>Plan</a:t>
            </a:r>
          </a:p>
          <a:p>
            <a:pPr algn="ctr">
              <a:spcBef>
                <a:spcPts val="600"/>
              </a:spcBef>
              <a:defRPr sz="1300">
                <a:solidFill>
                  <a:srgbClr val="A6ADC8"/>
                </a:solidFill>
                <a:latin typeface="JetBrains Mono"/>
              </a:defRPr>
            </a:pPr>
            <a:r>
              <a:t>Analyze requirements</a:t>
            </a:r>
          </a:p>
          <a:p>
            <a:pPr algn="ctr">
              <a:spcBef>
                <a:spcPts val="600"/>
              </a:spcBef>
              <a:defRPr sz="1300">
                <a:solidFill>
                  <a:srgbClr val="A6ADC8"/>
                </a:solidFill>
                <a:latin typeface="JetBrains Mono"/>
              </a:defRPr>
            </a:pPr>
            <a:r>
              <a:t>Write implementation plan</a:t>
            </a:r>
          </a:p>
        </p:txBody>
      </p:sp>
      <p:sp>
        <p:nvSpPr>
          <p:cNvPr id="7" name="TextBox 6"/>
          <p:cNvSpPr txBox="1"/>
          <p:nvPr/>
        </p:nvSpPr>
        <p:spPr>
          <a:xfrm>
            <a:off x="2606040" y="3291840"/>
            <a:ext cx="274320" cy="457200"/>
          </a:xfrm>
          <a:prstGeom prst="rect">
            <a:avLst/>
          </a:prstGeom>
          <a:noFill/>
        </p:spPr>
        <p:txBody>
          <a:bodyPr wrap="square">
            <a:spAutoFit/>
          </a:bodyPr>
          <a:lstStyle/>
          <a:p>
            <a:pPr algn="ctr">
              <a:defRPr sz="2400" b="0">
                <a:solidFill>
                  <a:srgbClr val="9399B2"/>
                </a:solidFill>
                <a:latin typeface="JetBrains Mono"/>
              </a:defRPr>
            </a:pPr>
            <a:r>
              <a:t>→</a:t>
            </a:r>
          </a:p>
        </p:txBody>
      </p:sp>
      <p:sp>
        <p:nvSpPr>
          <p:cNvPr id="8" name="Rounded Rectangle 7"/>
          <p:cNvSpPr/>
          <p:nvPr/>
        </p:nvSpPr>
        <p:spPr>
          <a:xfrm>
            <a:off x="2834640" y="2194560"/>
            <a:ext cx="2011680" cy="3200400"/>
          </a:xfrm>
          <a:prstGeom prst="roundRect">
            <a:avLst/>
          </a:prstGeom>
          <a:solidFill>
            <a:srgbClr val="313244"/>
          </a:solidFill>
          <a:ln w="25400">
            <a:solidFill>
              <a:srgbClr val="CBA6F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200" b="1">
                <a:solidFill>
                  <a:srgbClr val="CBA6F7"/>
                </a:solidFill>
                <a:latin typeface="JetBrains Mono"/>
              </a:defRPr>
            </a:pPr>
            <a:r>
              <a:t>Build</a:t>
            </a:r>
          </a:p>
          <a:p>
            <a:pPr algn="ctr">
              <a:spcBef>
                <a:spcPts val="600"/>
              </a:spcBef>
              <a:defRPr sz="1300">
                <a:solidFill>
                  <a:srgbClr val="A6ADC8"/>
                </a:solidFill>
                <a:latin typeface="JetBrains Mono"/>
              </a:defRPr>
            </a:pPr>
            <a:r>
              <a:t>Execute plan</a:t>
            </a:r>
          </a:p>
          <a:p>
            <a:pPr algn="ctr">
              <a:spcBef>
                <a:spcPts val="600"/>
              </a:spcBef>
              <a:defRPr sz="1300">
                <a:solidFill>
                  <a:srgbClr val="A6ADC8"/>
                </a:solidFill>
                <a:latin typeface="JetBrains Mono"/>
              </a:defRPr>
            </a:pPr>
            <a:r>
              <a:t>Write code</a:t>
            </a:r>
          </a:p>
        </p:txBody>
      </p:sp>
      <p:sp>
        <p:nvSpPr>
          <p:cNvPr id="9" name="TextBox 8"/>
          <p:cNvSpPr txBox="1"/>
          <p:nvPr/>
        </p:nvSpPr>
        <p:spPr>
          <a:xfrm>
            <a:off x="4892040" y="3291840"/>
            <a:ext cx="274320" cy="457200"/>
          </a:xfrm>
          <a:prstGeom prst="rect">
            <a:avLst/>
          </a:prstGeom>
          <a:noFill/>
        </p:spPr>
        <p:txBody>
          <a:bodyPr wrap="square">
            <a:spAutoFit/>
          </a:bodyPr>
          <a:lstStyle/>
          <a:p>
            <a:pPr algn="ctr">
              <a:defRPr sz="2400" b="0">
                <a:solidFill>
                  <a:srgbClr val="9399B2"/>
                </a:solidFill>
                <a:latin typeface="JetBrains Mono"/>
              </a:defRPr>
            </a:pPr>
            <a:r>
              <a:t>→</a:t>
            </a:r>
          </a:p>
        </p:txBody>
      </p:sp>
      <p:sp>
        <p:nvSpPr>
          <p:cNvPr id="10" name="Rounded Rectangle 9"/>
          <p:cNvSpPr/>
          <p:nvPr/>
        </p:nvSpPr>
        <p:spPr>
          <a:xfrm>
            <a:off x="5120640" y="2194560"/>
            <a:ext cx="2011680" cy="3200400"/>
          </a:xfrm>
          <a:prstGeom prst="roundRect">
            <a:avLst/>
          </a:prstGeom>
          <a:solidFill>
            <a:srgbClr val="313244"/>
          </a:solidFill>
          <a:ln w="25400">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200" b="1">
                <a:solidFill>
                  <a:srgbClr val="F9E2AF"/>
                </a:solidFill>
                <a:latin typeface="JetBrains Mono"/>
              </a:defRPr>
            </a:pPr>
            <a:r>
              <a:t>Test</a:t>
            </a:r>
          </a:p>
          <a:p>
            <a:pPr algn="ctr">
              <a:spcBef>
                <a:spcPts val="600"/>
              </a:spcBef>
              <a:defRPr sz="1300">
                <a:solidFill>
                  <a:srgbClr val="A6ADC8"/>
                </a:solidFill>
                <a:latin typeface="JetBrains Mono"/>
              </a:defRPr>
            </a:pPr>
            <a:r>
              <a:t>Unit + E2E tests</a:t>
            </a:r>
          </a:p>
          <a:p>
            <a:pPr algn="ctr">
              <a:spcBef>
                <a:spcPts val="600"/>
              </a:spcBef>
              <a:defRPr sz="1300">
                <a:solidFill>
                  <a:srgbClr val="A6ADC8"/>
                </a:solidFill>
                <a:latin typeface="JetBrains Mono"/>
              </a:defRPr>
            </a:pPr>
            <a:r>
              <a:t>Linting &amp; type checks</a:t>
            </a:r>
          </a:p>
        </p:txBody>
      </p:sp>
      <p:sp>
        <p:nvSpPr>
          <p:cNvPr id="11" name="TextBox 10"/>
          <p:cNvSpPr txBox="1"/>
          <p:nvPr/>
        </p:nvSpPr>
        <p:spPr>
          <a:xfrm>
            <a:off x="7178040" y="3291840"/>
            <a:ext cx="274320" cy="457200"/>
          </a:xfrm>
          <a:prstGeom prst="rect">
            <a:avLst/>
          </a:prstGeom>
          <a:noFill/>
        </p:spPr>
        <p:txBody>
          <a:bodyPr wrap="square">
            <a:spAutoFit/>
          </a:bodyPr>
          <a:lstStyle/>
          <a:p>
            <a:pPr algn="ctr">
              <a:defRPr sz="2400" b="0">
                <a:solidFill>
                  <a:srgbClr val="9399B2"/>
                </a:solidFill>
                <a:latin typeface="JetBrains Mono"/>
              </a:defRPr>
            </a:pPr>
            <a:r>
              <a:t>→</a:t>
            </a:r>
          </a:p>
        </p:txBody>
      </p:sp>
      <p:sp>
        <p:nvSpPr>
          <p:cNvPr id="12" name="Rounded Rectangle 11"/>
          <p:cNvSpPr/>
          <p:nvPr/>
        </p:nvSpPr>
        <p:spPr>
          <a:xfrm>
            <a:off x="7406640" y="2194560"/>
            <a:ext cx="2011680" cy="3200400"/>
          </a:xfrm>
          <a:prstGeom prst="roundRect">
            <a:avLst/>
          </a:prstGeom>
          <a:solidFill>
            <a:srgbClr val="313244"/>
          </a:solidFill>
          <a:ln w="25400">
            <a:solidFill>
              <a:srgbClr val="FAB38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200" b="1">
                <a:solidFill>
                  <a:srgbClr val="FAB387"/>
                </a:solidFill>
                <a:latin typeface="JetBrains Mono"/>
              </a:defRPr>
            </a:pPr>
            <a:r>
              <a:t>Review</a:t>
            </a:r>
          </a:p>
          <a:p>
            <a:pPr algn="ctr">
              <a:spcBef>
                <a:spcPts val="600"/>
              </a:spcBef>
              <a:defRPr sz="1300">
                <a:solidFill>
                  <a:srgbClr val="A6ADC8"/>
                </a:solidFill>
                <a:latin typeface="JetBrains Mono"/>
              </a:defRPr>
            </a:pPr>
            <a:r>
              <a:t>Validate against spec</a:t>
            </a:r>
          </a:p>
          <a:p>
            <a:pPr algn="ctr">
              <a:spcBef>
                <a:spcPts val="600"/>
              </a:spcBef>
              <a:defRPr sz="1300">
                <a:solidFill>
                  <a:srgbClr val="A6ADC8"/>
                </a:solidFill>
                <a:latin typeface="JetBrains Mono"/>
              </a:defRPr>
            </a:pPr>
            <a:r>
              <a:t>Capture screenshots</a:t>
            </a:r>
          </a:p>
        </p:txBody>
      </p:sp>
      <p:sp>
        <p:nvSpPr>
          <p:cNvPr id="13" name="TextBox 12"/>
          <p:cNvSpPr txBox="1"/>
          <p:nvPr/>
        </p:nvSpPr>
        <p:spPr>
          <a:xfrm>
            <a:off x="9464040" y="3291840"/>
            <a:ext cx="274320" cy="457200"/>
          </a:xfrm>
          <a:prstGeom prst="rect">
            <a:avLst/>
          </a:prstGeom>
          <a:noFill/>
        </p:spPr>
        <p:txBody>
          <a:bodyPr wrap="square">
            <a:spAutoFit/>
          </a:bodyPr>
          <a:lstStyle/>
          <a:p>
            <a:pPr algn="ctr">
              <a:defRPr sz="2400" b="0">
                <a:solidFill>
                  <a:srgbClr val="9399B2"/>
                </a:solidFill>
                <a:latin typeface="JetBrains Mono"/>
              </a:defRPr>
            </a:pPr>
            <a:r>
              <a:t>→</a:t>
            </a:r>
          </a:p>
        </p:txBody>
      </p:sp>
      <p:sp>
        <p:nvSpPr>
          <p:cNvPr id="14" name="Rounded Rectangle 13"/>
          <p:cNvSpPr/>
          <p:nvPr/>
        </p:nvSpPr>
        <p:spPr>
          <a:xfrm>
            <a:off x="9692640" y="2194560"/>
            <a:ext cx="2011680" cy="3200400"/>
          </a:xfrm>
          <a:prstGeom prst="roundRect">
            <a:avLst/>
          </a:prstGeom>
          <a:solidFill>
            <a:srgbClr val="313244"/>
          </a:solidFill>
          <a:ln w="25400">
            <a:solidFill>
              <a:srgbClr val="A6E3A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200" b="1">
                <a:solidFill>
                  <a:srgbClr val="A6E3A1"/>
                </a:solidFill>
                <a:latin typeface="JetBrains Mono"/>
              </a:defRPr>
            </a:pPr>
            <a:r>
              <a:t>Document</a:t>
            </a:r>
          </a:p>
          <a:p>
            <a:pPr algn="ctr">
              <a:spcBef>
                <a:spcPts val="600"/>
              </a:spcBef>
              <a:defRPr sz="1300">
                <a:solidFill>
                  <a:srgbClr val="A6ADC8"/>
                </a:solidFill>
                <a:latin typeface="JetBrains Mono"/>
              </a:defRPr>
            </a:pPr>
            <a:r>
              <a:t>Generate markdown</a:t>
            </a:r>
          </a:p>
          <a:p>
            <a:pPr algn="ctr">
              <a:spcBef>
                <a:spcPts val="600"/>
              </a:spcBef>
              <a:defRPr sz="1300">
                <a:solidFill>
                  <a:srgbClr val="A6ADC8"/>
                </a:solidFill>
                <a:latin typeface="JetBrains Mono"/>
              </a:defRPr>
            </a:pPr>
            <a:r>
              <a:t>Include screenshots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Isolated Execution with Git Worktrees</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114800"/>
          </a:xfrm>
          <a:prstGeom prst="rect">
            <a:avLst/>
          </a:prstGeom>
          <a:noFill/>
        </p:spPr>
        <p:txBody>
          <a:bodyPr wrap="square">
            <a:spAutoFit/>
          </a:bodyPr>
          <a:lstStyle/>
          <a:p>
            <a:pPr>
              <a:spcAft>
                <a:spcPts val="1600"/>
              </a:spcAft>
            </a:pPr>
            <a:r>
              <a:rPr sz="1800" b="1">
                <a:solidFill>
                  <a:srgbClr val="A6E3A1"/>
                </a:solidFill>
                <a:latin typeface="JetBrains Mono"/>
              </a:rPr>
              <a:t>• </a:t>
            </a:r>
            <a:r>
              <a:rPr sz="1800">
                <a:solidFill>
                  <a:srgbClr val="CDD6F4"/>
                </a:solidFill>
                <a:latin typeface="JetBrains Mono"/>
              </a:rPr>
              <a:t>Each ADW runs in its own git worktree (trees/&lt;adw_id&gt;/)</a:t>
            </a:r>
          </a:p>
          <a:p>
            <a:pPr>
              <a:spcAft>
                <a:spcPts val="1600"/>
              </a:spcAft>
            </a:pPr>
            <a:r>
              <a:rPr sz="1800" b="1">
                <a:solidFill>
                  <a:srgbClr val="A6E3A1"/>
                </a:solidFill>
                <a:latin typeface="JetBrains Mono"/>
              </a:rPr>
              <a:t>• </a:t>
            </a:r>
            <a:r>
              <a:rPr sz="1800">
                <a:solidFill>
                  <a:srgbClr val="CDD6F4"/>
                </a:solidFill>
                <a:latin typeface="JetBrains Mono"/>
              </a:rPr>
              <a:t>Complete filesystem isolation — no conflicts</a:t>
            </a:r>
          </a:p>
          <a:p>
            <a:pPr>
              <a:spcAft>
                <a:spcPts val="1600"/>
              </a:spcAft>
            </a:pPr>
            <a:r>
              <a:rPr sz="1800" b="1">
                <a:solidFill>
                  <a:srgbClr val="A6E3A1"/>
                </a:solidFill>
                <a:latin typeface="JetBrains Mono"/>
              </a:rPr>
              <a:t>• </a:t>
            </a:r>
            <a:r>
              <a:rPr sz="1800">
                <a:solidFill>
                  <a:srgbClr val="CDD6F4"/>
                </a:solidFill>
                <a:latin typeface="JetBrains Mono"/>
              </a:rPr>
              <a:t>Deterministic port allocation (backend: 9100-9114, frontend: 9200-9214)</a:t>
            </a:r>
          </a:p>
          <a:p>
            <a:pPr>
              <a:spcAft>
                <a:spcPts val="1600"/>
              </a:spcAft>
            </a:pPr>
            <a:r>
              <a:rPr sz="1800" b="1">
                <a:solidFill>
                  <a:srgbClr val="A6E3A1"/>
                </a:solidFill>
                <a:latin typeface="JetBrains Mono"/>
              </a:rPr>
              <a:t>• </a:t>
            </a:r>
            <a:r>
              <a:rPr sz="1800">
                <a:solidFill>
                  <a:srgbClr val="CDD6F4"/>
                </a:solidFill>
                <a:latin typeface="JetBrains Mono"/>
              </a:rPr>
              <a:t>Persistent state tracking in agents/&lt;adw_id&gt;/adw_state.json</a:t>
            </a:r>
          </a:p>
          <a:p>
            <a:pPr>
              <a:spcAft>
                <a:spcPts val="1600"/>
              </a:spcAft>
            </a:pPr>
            <a:r>
              <a:rPr sz="1800" b="1">
                <a:solidFill>
                  <a:srgbClr val="A6E3A1"/>
                </a:solidFill>
                <a:latin typeface="JetBrains Mono"/>
              </a:rPr>
              <a:t>• </a:t>
            </a:r>
            <a:r>
              <a:rPr sz="1800">
                <a:solidFill>
                  <a:srgbClr val="CDD6F4"/>
                </a:solidFill>
                <a:latin typeface="JetBrains Mono"/>
              </a:rPr>
              <a:t>Supports up to 15 concurrent ADW instances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Action Pack 3: Slash Command Pipeline</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Tic-tac-toe with Rust backend + TypeScript frontend</a:t>
            </a:r>
          </a:p>
        </p:txBody>
      </p:sp>
      <p:sp>
        <p:nvSpPr>
          <p:cNvPr id="7" name="TextBox 6"/>
          <p:cNvSpPr txBox="1"/>
          <p:nvPr/>
        </p:nvSpPr>
        <p:spPr>
          <a:xfrm>
            <a:off x="731520" y="2011680"/>
            <a:ext cx="10058400" cy="3657600"/>
          </a:xfrm>
          <a:prstGeom prst="rect">
            <a:avLst/>
          </a:prstGeom>
          <a:noFill/>
        </p:spPr>
        <p:txBody>
          <a:bodyPr wrap="square">
            <a:spAutoFit/>
          </a:bodyPr>
          <a:lstStyle/>
          <a:p>
            <a:pPr>
              <a:spcAft>
                <a:spcPts val="1600"/>
              </a:spcAft>
            </a:pPr>
            <a:r>
              <a:rPr sz="1800" b="1">
                <a:solidFill>
                  <a:srgbClr val="94E2D5"/>
                </a:solidFill>
                <a:latin typeface="JetBrains Mono"/>
              </a:rPr>
              <a:t>Step 1  </a:t>
            </a:r>
            <a:r>
              <a:rPr sz="1800">
                <a:solidFill>
                  <a:srgbClr val="CDD6F4"/>
                </a:solidFill>
                <a:latin typeface="JetBrains Mono"/>
              </a:rPr>
              <a:t>/feature — Plan with structured spec</a:t>
            </a:r>
          </a:p>
          <a:p>
            <a:pPr>
              <a:spcAft>
                <a:spcPts val="1600"/>
              </a:spcAft>
            </a:pPr>
            <a:r>
              <a:rPr sz="1800" b="1">
                <a:solidFill>
                  <a:srgbClr val="94E2D5"/>
                </a:solidFill>
                <a:latin typeface="JetBrains Mono"/>
              </a:rPr>
              <a:t>Step 2  </a:t>
            </a:r>
            <a:r>
              <a:rPr sz="1800">
                <a:solidFill>
                  <a:srgbClr val="CDD6F4"/>
                </a:solidFill>
                <a:latin typeface="JetBrains Mono"/>
              </a:rPr>
              <a:t>/implement &lt;plan-file&gt; — Build from plan</a:t>
            </a:r>
          </a:p>
          <a:p>
            <a:pPr>
              <a:spcAft>
                <a:spcPts val="1600"/>
              </a:spcAft>
            </a:pPr>
            <a:r>
              <a:rPr sz="1800" b="1">
                <a:solidFill>
                  <a:srgbClr val="94E2D5"/>
                </a:solidFill>
                <a:latin typeface="JetBrains Mono"/>
              </a:rPr>
              <a:t>Step 3  </a:t>
            </a:r>
            <a:r>
              <a:rPr sz="1800">
                <a:solidFill>
                  <a:srgbClr val="CDD6F4"/>
                </a:solidFill>
                <a:latin typeface="JetBrains Mono"/>
              </a:rPr>
              <a:t>/test — Run validation suite</a:t>
            </a:r>
          </a:p>
          <a:p>
            <a:pPr>
              <a:spcAft>
                <a:spcPts val="1600"/>
              </a:spcAft>
            </a:pPr>
            <a:r>
              <a:rPr sz="1800" b="1">
                <a:solidFill>
                  <a:srgbClr val="94E2D5"/>
                </a:solidFill>
                <a:latin typeface="JetBrains Mono"/>
              </a:rPr>
              <a:t>Step 4  </a:t>
            </a:r>
            <a:r>
              <a:rPr sz="1800">
                <a:solidFill>
                  <a:srgbClr val="CDD6F4"/>
                </a:solidFill>
                <a:latin typeface="JetBrains Mono"/>
              </a:rPr>
              <a:t>/review local &lt;plan-file&gt; — Review against spec</a:t>
            </a:r>
          </a:p>
          <a:p>
            <a:pPr>
              <a:spcAft>
                <a:spcPts val="1600"/>
              </a:spcAft>
            </a:pPr>
            <a:r>
              <a:rPr sz="1800" b="1">
                <a:solidFill>
                  <a:srgbClr val="94E2D5"/>
                </a:solidFill>
                <a:latin typeface="JetBrains Mono"/>
              </a:rPr>
              <a:t>Step 5  </a:t>
            </a:r>
            <a:r>
              <a:rPr sz="1800">
                <a:solidFill>
                  <a:srgbClr val="CDD6F4"/>
                </a:solidFill>
                <a:latin typeface="JetBrains Mono"/>
              </a:rPr>
              <a:t>/document local &lt;plan-file&gt; — Generate docs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The /feature Command</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Rounded Rectangle 5"/>
          <p:cNvSpPr/>
          <p:nvPr/>
        </p:nvSpPr>
        <p:spPr>
          <a:xfrm>
            <a:off x="731520" y="1280160"/>
            <a:ext cx="10515600" cy="457200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l">
              <a:spcAft>
                <a:spcPts val="200"/>
              </a:spcAft>
              <a:defRPr sz="1400">
                <a:solidFill>
                  <a:srgbClr val="A6E3A1"/>
                </a:solidFill>
                <a:latin typeface="JetBrains Mono"/>
              </a:defRPr>
            </a:pPr>
            <a:r>
              <a:t>/feature 0 local '{"title":"Tic-Tac-Toe Game",</a:t>
            </a:r>
          </a:p>
          <a:p>
            <a:pPr algn="l">
              <a:spcAft>
                <a:spcPts val="200"/>
              </a:spcAft>
              <a:defRPr sz="1400">
                <a:solidFill>
                  <a:srgbClr val="A6E3A1"/>
                </a:solidFill>
                <a:latin typeface="JetBrains Mono"/>
              </a:defRPr>
            </a:pPr>
            <a:r>
              <a:t>  "body":"Create a tic-tac-toe game with a Rust</a:t>
            </a:r>
          </a:p>
          <a:p>
            <a:pPr algn="l">
              <a:spcAft>
                <a:spcPts val="200"/>
              </a:spcAft>
              <a:defRPr sz="1400">
                <a:solidFill>
                  <a:srgbClr val="A6E3A1"/>
                </a:solidFill>
                <a:latin typeface="JetBrains Mono"/>
              </a:defRPr>
            </a:pPr>
            <a:r>
              <a:t>  web server backend and TypeScript frontend UI.</a:t>
            </a:r>
          </a:p>
          <a:p>
            <a:pPr algn="l">
              <a:spcAft>
                <a:spcPts val="200"/>
              </a:spcAft>
              <a:defRPr sz="1400">
                <a:solidFill>
                  <a:srgbClr val="A6E3A1"/>
                </a:solidFill>
                <a:latin typeface="JetBrains Mono"/>
              </a:defRPr>
            </a:pPr>
            <a:r>
              <a:t>  The Rust server should serve static HTML/JS/CSS</a:t>
            </a:r>
          </a:p>
          <a:p>
            <a:pPr algn="l">
              <a:spcAft>
                <a:spcPts val="200"/>
              </a:spcAft>
              <a:defRPr sz="1400">
                <a:solidFill>
                  <a:srgbClr val="A6E3A1"/>
                </a:solidFill>
                <a:latin typeface="JetBrains Mono"/>
              </a:defRPr>
            </a:pPr>
            <a:r>
              <a:t>  files and expose a REST API for game logic</a:t>
            </a:r>
          </a:p>
          <a:p>
            <a:pPr algn="l">
              <a:spcAft>
                <a:spcPts val="200"/>
              </a:spcAft>
              <a:defRPr sz="1400">
                <a:solidFill>
                  <a:srgbClr val="A6E3A1"/>
                </a:solidFill>
                <a:latin typeface="JetBrains Mono"/>
              </a:defRPr>
            </a:pPr>
            <a:r>
              <a:t>  (new game, make move, get game state).</a:t>
            </a:r>
          </a:p>
          <a:p>
            <a:pPr algn="l">
              <a:spcAft>
                <a:spcPts val="200"/>
              </a:spcAft>
              <a:defRPr sz="1400">
                <a:solidFill>
                  <a:srgbClr val="A6E3A1"/>
                </a:solidFill>
                <a:latin typeface="JetBrains Mono"/>
              </a:defRPr>
            </a:pPr>
            <a:r>
              <a:t>  The TypeScript frontend should render a 3x3 grid,</a:t>
            </a:r>
          </a:p>
          <a:p>
            <a:pPr algn="l">
              <a:spcAft>
                <a:spcPts val="200"/>
              </a:spcAft>
              <a:defRPr sz="1400">
                <a:solidFill>
                  <a:srgbClr val="A6E3A1"/>
                </a:solidFill>
                <a:latin typeface="JetBrains Mono"/>
              </a:defRPr>
            </a:pPr>
            <a:r>
              <a:t>  handle player clicks, display whose turn it is,</a:t>
            </a:r>
          </a:p>
          <a:p>
            <a:pPr algn="l">
              <a:spcAft>
                <a:spcPts val="200"/>
              </a:spcAft>
              <a:defRPr sz="1400">
                <a:solidFill>
                  <a:srgbClr val="A6E3A1"/>
                </a:solidFill>
                <a:latin typeface="JetBrains Mono"/>
              </a:defRPr>
            </a:pPr>
            <a:r>
              <a:t>  detect win/draw conditions, and allow restarting</a:t>
            </a:r>
          </a:p>
          <a:p>
            <a:pPr algn="l">
              <a:spcAft>
                <a:spcPts val="200"/>
              </a:spcAft>
              <a:defRPr sz="1400">
                <a:solidFill>
                  <a:srgbClr val="A6E3A1"/>
                </a:solidFill>
                <a:latin typeface="JetBrains Mono"/>
              </a:defRPr>
            </a:pPr>
            <a:r>
              <a:t>  the game."}'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Action Pack 4: ADW Automation</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75520" y="365760"/>
            <a:ext cx="1828800" cy="457200"/>
          </a:xfrm>
          <a:prstGeom prst="round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B"/>
                </a:solidFill>
                <a:latin typeface="JetBrains Mono"/>
              </a:defRPr>
            </a:pPr>
            <a:r>
              <a:t>LIVE DEMO</a:t>
            </a:r>
          </a:p>
        </p:txBody>
      </p:sp>
      <p:sp>
        <p:nvSpPr>
          <p:cNvPr id="6" name="TextBox 5"/>
          <p:cNvSpPr txBox="1"/>
          <p:nvPr/>
        </p:nvSpPr>
        <p:spPr>
          <a:xfrm>
            <a:off x="731520" y="1280160"/>
            <a:ext cx="10058400" cy="548640"/>
          </a:xfrm>
          <a:prstGeom prst="rect">
            <a:avLst/>
          </a:prstGeom>
          <a:noFill/>
        </p:spPr>
        <p:txBody>
          <a:bodyPr wrap="square">
            <a:spAutoFit/>
          </a:bodyPr>
          <a:lstStyle/>
          <a:p>
            <a:pPr algn="l">
              <a:defRPr sz="1800" b="0">
                <a:solidFill>
                  <a:srgbClr val="BAC2DE"/>
                </a:solidFill>
                <a:latin typeface="JetBrains Mono"/>
              </a:defRPr>
            </a:pPr>
            <a:r>
              <a:t>Same tic-tac-toe, fully automated pipeline:</a:t>
            </a:r>
          </a:p>
        </p:txBody>
      </p:sp>
      <p:sp>
        <p:nvSpPr>
          <p:cNvPr id="7" name="TextBox 6"/>
          <p:cNvSpPr txBox="1"/>
          <p:nvPr/>
        </p:nvSpPr>
        <p:spPr>
          <a:xfrm>
            <a:off x="731520" y="2011680"/>
            <a:ext cx="10058400" cy="2743200"/>
          </a:xfrm>
          <a:prstGeom prst="rect">
            <a:avLst/>
          </a:prstGeom>
          <a:noFill/>
        </p:spPr>
        <p:txBody>
          <a:bodyPr wrap="square">
            <a:spAutoFit/>
          </a:bodyPr>
          <a:lstStyle/>
          <a:p>
            <a:pPr>
              <a:spcAft>
                <a:spcPts val="1400"/>
              </a:spcAft>
            </a:pPr>
            <a:r>
              <a:rPr sz="1800" b="1">
                <a:solidFill>
                  <a:srgbClr val="89DCEB"/>
                </a:solidFill>
                <a:latin typeface="JetBrains Mono"/>
              </a:rPr>
              <a:t>Step 1  </a:t>
            </a:r>
            <a:r>
              <a:rPr sz="1800">
                <a:solidFill>
                  <a:srgbClr val="CDD6F4"/>
                </a:solidFill>
                <a:latin typeface="JetBrains Mono"/>
              </a:rPr>
              <a:t>uv run adw_plan_iso.py → get &lt;adw-id&gt;</a:t>
            </a:r>
          </a:p>
          <a:p>
            <a:pPr>
              <a:spcAft>
                <a:spcPts val="1400"/>
              </a:spcAft>
            </a:pPr>
            <a:r>
              <a:rPr sz="1800" b="1">
                <a:solidFill>
                  <a:srgbClr val="89DCEB"/>
                </a:solidFill>
                <a:latin typeface="JetBrains Mono"/>
              </a:rPr>
              <a:t>Step 2  </a:t>
            </a:r>
            <a:r>
              <a:rPr sz="1800">
                <a:solidFill>
                  <a:srgbClr val="CDD6F4"/>
                </a:solidFill>
                <a:latin typeface="JetBrains Mono"/>
              </a:rPr>
              <a:t>uv run adw_build_iso.py &lt;adw-id&gt;</a:t>
            </a:r>
          </a:p>
          <a:p>
            <a:pPr>
              <a:spcAft>
                <a:spcPts val="1400"/>
              </a:spcAft>
            </a:pPr>
            <a:r>
              <a:rPr sz="1800" b="1">
                <a:solidFill>
                  <a:srgbClr val="89DCEB"/>
                </a:solidFill>
                <a:latin typeface="JetBrains Mono"/>
              </a:rPr>
              <a:t>Step 3  </a:t>
            </a:r>
            <a:r>
              <a:rPr sz="1800">
                <a:solidFill>
                  <a:srgbClr val="CDD6F4"/>
                </a:solidFill>
                <a:latin typeface="JetBrains Mono"/>
              </a:rPr>
              <a:t>uv run adw_test_iso.py &lt;adw-id&gt;</a:t>
            </a:r>
          </a:p>
          <a:p>
            <a:pPr>
              <a:spcAft>
                <a:spcPts val="1400"/>
              </a:spcAft>
            </a:pPr>
            <a:r>
              <a:rPr sz="1800" b="1">
                <a:solidFill>
                  <a:srgbClr val="89DCEB"/>
                </a:solidFill>
                <a:latin typeface="JetBrains Mono"/>
              </a:rPr>
              <a:t>Step 4  </a:t>
            </a:r>
            <a:r>
              <a:rPr sz="1800">
                <a:solidFill>
                  <a:srgbClr val="CDD6F4"/>
                </a:solidFill>
                <a:latin typeface="JetBrains Mono"/>
              </a:rPr>
              <a:t>uv run adw_review_iso.py &lt;adw-id&gt;</a:t>
            </a:r>
          </a:p>
          <a:p>
            <a:pPr>
              <a:spcAft>
                <a:spcPts val="1400"/>
              </a:spcAft>
            </a:pPr>
            <a:r>
              <a:rPr sz="1800" b="1">
                <a:solidFill>
                  <a:srgbClr val="89DCEB"/>
                </a:solidFill>
                <a:latin typeface="JetBrains Mono"/>
              </a:rPr>
              <a:t>Step 5  </a:t>
            </a:r>
            <a:r>
              <a:rPr sz="1800">
                <a:solidFill>
                  <a:srgbClr val="CDD6F4"/>
                </a:solidFill>
                <a:latin typeface="JetBrains Mono"/>
              </a:rPr>
              <a:t>uv run adw_document_iso.py &lt;adw-id&gt;</a:t>
            </a:r>
          </a:p>
        </p:txBody>
      </p:sp>
      <p:sp>
        <p:nvSpPr>
          <p:cNvPr id="8" name="TextBox 7"/>
          <p:cNvSpPr txBox="1"/>
          <p:nvPr/>
        </p:nvSpPr>
        <p:spPr>
          <a:xfrm>
            <a:off x="731520" y="5029200"/>
            <a:ext cx="10058400" cy="548640"/>
          </a:xfrm>
          <a:prstGeom prst="rect">
            <a:avLst/>
          </a:prstGeom>
          <a:noFill/>
        </p:spPr>
        <p:txBody>
          <a:bodyPr wrap="square">
            <a:spAutoFit/>
          </a:bodyPr>
          <a:lstStyle/>
          <a:p>
            <a:pPr algn="l">
              <a:defRPr sz="1600" b="0">
                <a:solidFill>
                  <a:srgbClr val="9399B2"/>
                </a:solidFill>
                <a:latin typeface="JetBrains Mono"/>
              </a:defRPr>
            </a:pPr>
            <a:r>
              <a:t>Each step runs Claude Code as a subprocess in an isolated worktree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ADW System Architecture</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114800"/>
          </a:xfrm>
          <a:prstGeom prst="rect">
            <a:avLst/>
          </a:prstGeom>
          <a:noFill/>
        </p:spPr>
        <p:txBody>
          <a:bodyPr wrap="square">
            <a:spAutoFit/>
          </a:bodyPr>
          <a:lstStyle/>
          <a:p>
            <a:pPr>
              <a:spcAft>
                <a:spcPts val="1200"/>
              </a:spcAft>
            </a:pPr>
            <a:r>
              <a:rPr sz="1600" b="1">
                <a:solidFill>
                  <a:srgbClr val="A6E3A1"/>
                </a:solidFill>
                <a:latin typeface="JetBrains Mono"/>
              </a:rPr>
              <a:t>adw_modules/agent.py      </a:t>
            </a:r>
            <a:r>
              <a:rPr sz="1600">
                <a:solidFill>
                  <a:srgbClr val="CDD6F4"/>
                </a:solidFill>
                <a:latin typeface="JetBrains Mono"/>
              </a:rPr>
              <a:t>Claude Code CLI integration</a:t>
            </a:r>
          </a:p>
          <a:p>
            <a:pPr>
              <a:spcAft>
                <a:spcPts val="1200"/>
              </a:spcAft>
            </a:pPr>
            <a:r>
              <a:rPr sz="1600" b="1">
                <a:solidFill>
                  <a:srgbClr val="A6E3A1"/>
                </a:solidFill>
                <a:latin typeface="JetBrains Mono"/>
              </a:rPr>
              <a:t>adw_modules/workflow_ops.py </a:t>
            </a:r>
            <a:r>
              <a:rPr sz="1600">
                <a:solidFill>
                  <a:srgbClr val="CDD6F4"/>
                </a:solidFill>
                <a:latin typeface="JetBrains Mono"/>
              </a:rPr>
              <a:t>Core workflow operations</a:t>
            </a:r>
          </a:p>
          <a:p>
            <a:pPr>
              <a:spcAft>
                <a:spcPts val="1200"/>
              </a:spcAft>
            </a:pPr>
            <a:r>
              <a:rPr sz="1600" b="1">
                <a:solidFill>
                  <a:srgbClr val="A6E3A1"/>
                </a:solidFill>
                <a:latin typeface="JetBrains Mono"/>
              </a:rPr>
              <a:t>adw_modules/state.py      </a:t>
            </a:r>
            <a:r>
              <a:rPr sz="1600">
                <a:solidFill>
                  <a:srgbClr val="CDD6F4"/>
                </a:solidFill>
                <a:latin typeface="JetBrains Mono"/>
              </a:rPr>
              <a:t>State persistence (JSON)</a:t>
            </a:r>
          </a:p>
          <a:p>
            <a:pPr>
              <a:spcAft>
                <a:spcPts val="1200"/>
              </a:spcAft>
            </a:pPr>
            <a:r>
              <a:rPr sz="1600" b="1">
                <a:solidFill>
                  <a:srgbClr val="A6E3A1"/>
                </a:solidFill>
                <a:latin typeface="JetBrains Mono"/>
              </a:rPr>
              <a:t>adw_modules/git_ops.py    </a:t>
            </a:r>
            <a:r>
              <a:rPr sz="1600">
                <a:solidFill>
                  <a:srgbClr val="CDD6F4"/>
                </a:solidFill>
                <a:latin typeface="JetBrains Mono"/>
              </a:rPr>
              <a:t>Git operations + worktrees</a:t>
            </a:r>
          </a:p>
          <a:p>
            <a:pPr>
              <a:spcAft>
                <a:spcPts val="1200"/>
              </a:spcAft>
            </a:pPr>
            <a:r>
              <a:rPr sz="1600" b="1">
                <a:solidFill>
                  <a:srgbClr val="A6E3A1"/>
                </a:solidFill>
                <a:latin typeface="JetBrains Mono"/>
              </a:rPr>
              <a:t>adw_modules/github.py     </a:t>
            </a:r>
            <a:r>
              <a:rPr sz="1600">
                <a:solidFill>
                  <a:srgbClr val="CDD6F4"/>
                </a:solidFill>
                <a:latin typeface="JetBrains Mono"/>
              </a:rPr>
              <a:t>GitHub API (issues, PRs)</a:t>
            </a:r>
          </a:p>
          <a:p>
            <a:pPr>
              <a:spcAft>
                <a:spcPts val="1200"/>
              </a:spcAft>
            </a:pPr>
            <a:r>
              <a:rPr sz="1600" b="1">
                <a:solidFill>
                  <a:srgbClr val="A6E3A1"/>
                </a:solidFill>
                <a:latin typeface="JetBrains Mono"/>
              </a:rPr>
              <a:t>adw_modules/worktree_ops.py </a:t>
            </a:r>
            <a:r>
              <a:rPr sz="1600">
                <a:solidFill>
                  <a:srgbClr val="CDD6F4"/>
                </a:solidFill>
                <a:latin typeface="JetBrains Mono"/>
              </a:rPr>
              <a:t>Worktree + port management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Orchestration Patterns</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2743200"/>
          </a:xfrm>
          <a:prstGeom prst="rect">
            <a:avLst/>
          </a:prstGeom>
          <a:noFill/>
        </p:spPr>
        <p:txBody>
          <a:bodyPr wrap="square">
            <a:spAutoFit/>
          </a:bodyPr>
          <a:lstStyle/>
          <a:p>
            <a:pPr>
              <a:spcAft>
                <a:spcPts val="1800"/>
              </a:spcAft>
            </a:pPr>
            <a:r>
              <a:rPr sz="1800" b="1">
                <a:solidFill>
                  <a:srgbClr val="74C7EC"/>
                </a:solidFill>
                <a:latin typeface="JetBrains Mono"/>
              </a:rPr>
              <a:t>Single Phase    </a:t>
            </a:r>
            <a:r>
              <a:rPr sz="1800">
                <a:solidFill>
                  <a:srgbClr val="CDD6F4"/>
                </a:solidFill>
                <a:latin typeface="JetBrains Mono"/>
              </a:rPr>
              <a:t>adw_plan_iso.py — one step at a time</a:t>
            </a:r>
          </a:p>
          <a:p>
            <a:pPr>
              <a:spcAft>
                <a:spcPts val="1800"/>
              </a:spcAft>
            </a:pPr>
            <a:r>
              <a:rPr sz="1800" b="1">
                <a:solidFill>
                  <a:srgbClr val="74C7EC"/>
                </a:solidFill>
                <a:latin typeface="JetBrains Mono"/>
              </a:rPr>
              <a:t>Multi Phase     </a:t>
            </a:r>
            <a:r>
              <a:rPr sz="1800">
                <a:solidFill>
                  <a:srgbClr val="CDD6F4"/>
                </a:solidFill>
                <a:latin typeface="JetBrains Mono"/>
              </a:rPr>
              <a:t>adw_plan_build_iso.py — combine phases</a:t>
            </a:r>
          </a:p>
          <a:p>
            <a:pPr>
              <a:spcAft>
                <a:spcPts val="1800"/>
              </a:spcAft>
            </a:pPr>
            <a:r>
              <a:rPr sz="1800" b="1">
                <a:solidFill>
                  <a:srgbClr val="74C7EC"/>
                </a:solidFill>
                <a:latin typeface="JetBrains Mono"/>
              </a:rPr>
              <a:t>Full SDLC       </a:t>
            </a:r>
            <a:r>
              <a:rPr sz="1800">
                <a:solidFill>
                  <a:srgbClr val="CDD6F4"/>
                </a:solidFill>
                <a:latin typeface="JetBrains Mono"/>
              </a:rPr>
              <a:t>adw_sdlc_iso.py — all five phases</a:t>
            </a:r>
          </a:p>
          <a:p>
            <a:pPr>
              <a:spcAft>
                <a:spcPts val="1800"/>
              </a:spcAft>
            </a:pPr>
            <a:r>
              <a:rPr sz="1800" b="1">
                <a:solidFill>
                  <a:srgbClr val="74C7EC"/>
                </a:solidFill>
                <a:latin typeface="JetBrains Mono"/>
              </a:rPr>
              <a:t>Zero Touch      </a:t>
            </a:r>
            <a:r>
              <a:rPr sz="1800">
                <a:solidFill>
                  <a:srgbClr val="CDD6F4"/>
                </a:solidFill>
                <a:latin typeface="JetBrains Mono"/>
              </a:rPr>
              <a:t>adw_sdlc_zte_iso.py — auto-merge to main</a:t>
            </a:r>
          </a:p>
        </p:txBody>
      </p:sp>
      <p:sp>
        <p:nvSpPr>
          <p:cNvPr id="6" name="TextBox 5"/>
          <p:cNvSpPr txBox="1"/>
          <p:nvPr/>
        </p:nvSpPr>
        <p:spPr>
          <a:xfrm>
            <a:off x="731520" y="4114800"/>
            <a:ext cx="10058400" cy="1371600"/>
          </a:xfrm>
          <a:prstGeom prst="rect">
            <a:avLst/>
          </a:prstGeom>
          <a:noFill/>
        </p:spPr>
        <p:txBody>
          <a:bodyPr wrap="square">
            <a:spAutoFit/>
          </a:bodyPr>
          <a:lstStyle/>
          <a:p>
            <a:pPr algn="l">
              <a:defRPr sz="1600" b="0">
                <a:solidFill>
                  <a:srgbClr val="9399B2"/>
                </a:solidFill>
                <a:latin typeface="JetBrains Mono"/>
              </a:defRPr>
            </a:pPr>
            <a:r>
              <a:t>Progressive automation: start manual, add automation as confidence grows.</a:t>
            </a:r>
            <a:br/>
            <a:r>
              <a:t>ZTE = full pipeline with automatic PR approval and merge.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GitHub Integration</a:t>
            </a:r>
          </a:p>
        </p:txBody>
      </p:sp>
      <p:sp>
        <p:nvSpPr>
          <p:cNvPr id="4" name="Rectangle 3"/>
          <p:cNvSpPr/>
          <p:nvPr/>
        </p:nvSpPr>
        <p:spPr>
          <a:xfrm>
            <a:off x="548640" y="960120"/>
            <a:ext cx="2743200" cy="36576"/>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114800"/>
          </a:xfrm>
          <a:prstGeom prst="rect">
            <a:avLst/>
          </a:prstGeom>
          <a:noFill/>
        </p:spPr>
        <p:txBody>
          <a:bodyPr wrap="square">
            <a:spAutoFit/>
          </a:bodyPr>
          <a:lstStyle/>
          <a:p>
            <a:pPr>
              <a:spcAft>
                <a:spcPts val="1600"/>
              </a:spcAft>
            </a:pPr>
            <a:r>
              <a:rPr sz="1800" b="1">
                <a:solidFill>
                  <a:srgbClr val="A6E3A1"/>
                </a:solidFill>
                <a:latin typeface="JetBrains Mono"/>
              </a:rPr>
              <a:t>• </a:t>
            </a:r>
            <a:r>
              <a:rPr sz="1800">
                <a:solidFill>
                  <a:srgbClr val="CDD6F4"/>
                </a:solidFill>
                <a:latin typeface="JetBrains Mono"/>
              </a:rPr>
              <a:t>Issue classification → automatic workflow selection</a:t>
            </a:r>
          </a:p>
          <a:p>
            <a:pPr>
              <a:spcAft>
                <a:spcPts val="1600"/>
              </a:spcAft>
            </a:pPr>
            <a:r>
              <a:rPr sz="1800" b="1">
                <a:solidFill>
                  <a:srgbClr val="A6E3A1"/>
                </a:solidFill>
                <a:latin typeface="JetBrains Mono"/>
              </a:rPr>
              <a:t>• </a:t>
            </a:r>
            <a:r>
              <a:rPr sz="1800">
                <a:solidFill>
                  <a:srgbClr val="CDD6F4"/>
                </a:solidFill>
                <a:latin typeface="JetBrains Mono"/>
              </a:rPr>
              <a:t>Branch creation with semantic naming</a:t>
            </a:r>
          </a:p>
          <a:p>
            <a:pPr>
              <a:spcAft>
                <a:spcPts val="1600"/>
              </a:spcAft>
            </a:pPr>
            <a:r>
              <a:rPr sz="1800" b="1">
                <a:solidFill>
                  <a:srgbClr val="A6E3A1"/>
                </a:solidFill>
                <a:latin typeface="JetBrains Mono"/>
              </a:rPr>
              <a:t>• </a:t>
            </a:r>
            <a:r>
              <a:rPr sz="1800">
                <a:solidFill>
                  <a:srgbClr val="CDD6F4"/>
                </a:solidFill>
                <a:latin typeface="JetBrains Mono"/>
              </a:rPr>
              <a:t>PR generation with descriptions and screenshots</a:t>
            </a:r>
          </a:p>
          <a:p>
            <a:pPr>
              <a:spcAft>
                <a:spcPts val="1600"/>
              </a:spcAft>
            </a:pPr>
            <a:r>
              <a:rPr sz="1800" b="1">
                <a:solidFill>
                  <a:srgbClr val="A6E3A1"/>
                </a:solidFill>
                <a:latin typeface="JetBrains Mono"/>
              </a:rPr>
              <a:t>• </a:t>
            </a:r>
            <a:r>
              <a:rPr sz="1800">
                <a:solidFill>
                  <a:srgbClr val="CDD6F4"/>
                </a:solidFill>
                <a:latin typeface="JetBrains Mono"/>
              </a:rPr>
              <a:t>Webhook triggers for real-time processing</a:t>
            </a:r>
          </a:p>
          <a:p>
            <a:pPr>
              <a:spcAft>
                <a:spcPts val="1600"/>
              </a:spcAft>
            </a:pPr>
            <a:r>
              <a:rPr sz="1800" b="1">
                <a:solidFill>
                  <a:srgbClr val="A6E3A1"/>
                </a:solidFill>
                <a:latin typeface="JetBrains Mono"/>
              </a:rPr>
              <a:t>• </a:t>
            </a:r>
            <a:r>
              <a:rPr sz="1800">
                <a:solidFill>
                  <a:srgbClr val="CDD6F4"/>
                </a:solidFill>
                <a:latin typeface="JetBrains Mono"/>
              </a:rPr>
              <a:t>Cron-based polling (20-second intervals)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54864"/>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4000" b="1">
                <a:solidFill>
                  <a:srgbClr val="CDD6F4"/>
                </a:solidFill>
                <a:latin typeface="JetBrains Mono"/>
              </a:defRPr>
            </a:pPr>
            <a:r>
              <a:t>Wrapping Up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Key Takeaways</a:t>
            </a:r>
          </a:p>
        </p:txBody>
      </p:sp>
      <p:sp>
        <p:nvSpPr>
          <p:cNvPr id="4" name="Rectangle 3"/>
          <p:cNvSpPr/>
          <p:nvPr/>
        </p:nvSpPr>
        <p:spPr>
          <a:xfrm>
            <a:off x="548640" y="960120"/>
            <a:ext cx="2743200" cy="36576"/>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572000"/>
          </a:xfrm>
          <a:prstGeom prst="rect">
            <a:avLst/>
          </a:prstGeom>
          <a:noFill/>
        </p:spPr>
        <p:txBody>
          <a:bodyPr wrap="square">
            <a:spAutoFit/>
          </a:bodyPr>
          <a:lstStyle/>
          <a:p>
            <a:pPr>
              <a:spcAft>
                <a:spcPts val="1800"/>
              </a:spcAft>
            </a:pPr>
            <a:r>
              <a:rPr sz="1900" b="1">
                <a:solidFill>
                  <a:srgbClr val="F2CDCD"/>
                </a:solidFill>
                <a:latin typeface="JetBrains Mono"/>
              </a:rPr>
              <a:t>1. </a:t>
            </a:r>
            <a:r>
              <a:rPr sz="1900">
                <a:solidFill>
                  <a:srgbClr val="CDD6F4"/>
                </a:solidFill>
                <a:latin typeface="JetBrains Mono"/>
              </a:rPr>
              <a:t>Slash commands make workflows repeatable and shareable</a:t>
            </a:r>
          </a:p>
          <a:p>
            <a:pPr>
              <a:spcAft>
                <a:spcPts val="1800"/>
              </a:spcAft>
            </a:pPr>
            <a:r>
              <a:rPr sz="1900" b="1">
                <a:solidFill>
                  <a:srgbClr val="F2CDCD"/>
                </a:solidFill>
                <a:latin typeface="JetBrains Mono"/>
              </a:rPr>
              <a:t>2. </a:t>
            </a:r>
            <a:r>
              <a:rPr sz="1900">
                <a:solidFill>
                  <a:srgbClr val="CDD6F4"/>
                </a:solidFill>
                <a:latin typeface="JetBrains Mono"/>
              </a:rPr>
              <a:t>Plan mode + spec-interview = better requirements upfront</a:t>
            </a:r>
          </a:p>
          <a:p>
            <a:pPr>
              <a:spcAft>
                <a:spcPts val="1800"/>
              </a:spcAft>
            </a:pPr>
            <a:r>
              <a:rPr sz="1900" b="1">
                <a:solidFill>
                  <a:srgbClr val="F2CDCD"/>
                </a:solidFill>
                <a:latin typeface="JetBrains Mono"/>
              </a:rPr>
              <a:t>3. </a:t>
            </a:r>
            <a:r>
              <a:rPr sz="1900">
                <a:solidFill>
                  <a:srgbClr val="CDD6F4"/>
                </a:solidFill>
                <a:latin typeface="JetBrains Mono"/>
              </a:rPr>
              <a:t>Skills and hooks extend Claude Code to your project's needs</a:t>
            </a:r>
          </a:p>
          <a:p>
            <a:pPr>
              <a:spcAft>
                <a:spcPts val="1800"/>
              </a:spcAft>
            </a:pPr>
            <a:r>
              <a:rPr sz="1900" b="1">
                <a:solidFill>
                  <a:srgbClr val="F2CDCD"/>
                </a:solidFill>
                <a:latin typeface="JetBrains Mono"/>
              </a:rPr>
              <a:t>4. </a:t>
            </a:r>
            <a:r>
              <a:rPr sz="1900">
                <a:solidFill>
                  <a:srgbClr val="CDD6F4"/>
                </a:solidFill>
                <a:latin typeface="JetBrains Mono"/>
              </a:rPr>
              <a:t>Prefer CLI tools over MCP servers when possible</a:t>
            </a:r>
          </a:p>
          <a:p>
            <a:pPr>
              <a:spcAft>
                <a:spcPts val="1800"/>
              </a:spcAft>
            </a:pPr>
            <a:r>
              <a:rPr sz="1900" b="1">
                <a:solidFill>
                  <a:srgbClr val="F2CDCD"/>
                </a:solidFill>
                <a:latin typeface="JetBrains Mono"/>
              </a:rPr>
              <a:t>5. </a:t>
            </a:r>
            <a:r>
              <a:rPr sz="1900">
                <a:solidFill>
                  <a:srgbClr val="CDD6F4"/>
                </a:solidFill>
                <a:latin typeface="JetBrains Mono"/>
              </a:rPr>
              <a:t>Superpowers enforce disciplined development practices</a:t>
            </a:r>
          </a:p>
          <a:p>
            <a:pPr>
              <a:spcAft>
                <a:spcPts val="1800"/>
              </a:spcAft>
            </a:pPr>
            <a:r>
              <a:rPr sz="1900" b="1">
                <a:solidFill>
                  <a:srgbClr val="F2CDCD"/>
                </a:solidFill>
                <a:latin typeface="JetBrains Mono"/>
              </a:rPr>
              <a:t>6. </a:t>
            </a:r>
            <a:r>
              <a:rPr sz="1900">
                <a:solidFill>
                  <a:srgbClr val="CDD6F4"/>
                </a:solidFill>
                <a:latin typeface="JetBrains Mono"/>
              </a:rPr>
              <a:t>ADW automates the full SDLC with isolated execution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The Automation Ladder</a:t>
            </a:r>
          </a:p>
        </p:txBody>
      </p:sp>
      <p:sp>
        <p:nvSpPr>
          <p:cNvPr id="4" name="Rectangle 3"/>
          <p:cNvSpPr/>
          <p:nvPr/>
        </p:nvSpPr>
        <p:spPr>
          <a:xfrm>
            <a:off x="548640" y="960120"/>
            <a:ext cx="2743200" cy="36576"/>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114800"/>
          </a:xfrm>
          <a:prstGeom prst="rect">
            <a:avLst/>
          </a:prstGeom>
          <a:noFill/>
        </p:spPr>
        <p:txBody>
          <a:bodyPr wrap="square">
            <a:spAutoFit/>
          </a:bodyPr>
          <a:lstStyle/>
          <a:p>
            <a:pPr>
              <a:spcAft>
                <a:spcPts val="1800"/>
              </a:spcAft>
            </a:pPr>
            <a:r>
              <a:rPr sz="1900" b="1">
                <a:solidFill>
                  <a:srgbClr val="FAB387"/>
                </a:solidFill>
                <a:latin typeface="JetBrains Mono"/>
              </a:rPr>
              <a:t>Level 1  </a:t>
            </a:r>
            <a:r>
              <a:rPr sz="1900">
                <a:solidFill>
                  <a:srgbClr val="CDD6F4"/>
                </a:solidFill>
                <a:latin typeface="JetBrains Mono"/>
              </a:rPr>
              <a:t>Manual prompting — chat with Claude Code</a:t>
            </a:r>
          </a:p>
          <a:p>
            <a:pPr>
              <a:spcAft>
                <a:spcPts val="1800"/>
              </a:spcAft>
            </a:pPr>
            <a:r>
              <a:rPr sz="1900" b="1">
                <a:solidFill>
                  <a:srgbClr val="FAB387"/>
                </a:solidFill>
                <a:latin typeface="JetBrains Mono"/>
              </a:rPr>
              <a:t>Level 2  </a:t>
            </a:r>
            <a:r>
              <a:rPr sz="1900">
                <a:solidFill>
                  <a:srgbClr val="CDD6F4"/>
                </a:solidFill>
                <a:latin typeface="JetBrains Mono"/>
              </a:rPr>
              <a:t>Slash commands — repeatable workflows</a:t>
            </a:r>
          </a:p>
          <a:p>
            <a:pPr>
              <a:spcAft>
                <a:spcPts val="1800"/>
              </a:spcAft>
            </a:pPr>
            <a:r>
              <a:rPr sz="1900" b="1">
                <a:solidFill>
                  <a:srgbClr val="FAB387"/>
                </a:solidFill>
                <a:latin typeface="JetBrains Mono"/>
              </a:rPr>
              <a:t>Level 3  </a:t>
            </a:r>
            <a:r>
              <a:rPr sz="1900">
                <a:solidFill>
                  <a:srgbClr val="CDD6F4"/>
                </a:solidFill>
                <a:latin typeface="JetBrains Mono"/>
              </a:rPr>
              <a:t>Superpowers — enforced best practices</a:t>
            </a:r>
          </a:p>
          <a:p>
            <a:pPr>
              <a:spcAft>
                <a:spcPts val="1800"/>
              </a:spcAft>
            </a:pPr>
            <a:r>
              <a:rPr sz="1900" b="1">
                <a:solidFill>
                  <a:srgbClr val="FAB387"/>
                </a:solidFill>
                <a:latin typeface="JetBrains Mono"/>
              </a:rPr>
              <a:t>Level 4  </a:t>
            </a:r>
            <a:r>
              <a:rPr sz="1900">
                <a:solidFill>
                  <a:srgbClr val="CDD6F4"/>
                </a:solidFill>
                <a:latin typeface="JetBrains Mono"/>
              </a:rPr>
              <a:t>ADW scripts — automated multi-phase pipelines</a:t>
            </a:r>
          </a:p>
          <a:p>
            <a:pPr>
              <a:spcAft>
                <a:spcPts val="1800"/>
              </a:spcAft>
            </a:pPr>
            <a:r>
              <a:rPr sz="1900" b="1">
                <a:solidFill>
                  <a:srgbClr val="FAB387"/>
                </a:solidFill>
                <a:latin typeface="JetBrains Mono"/>
              </a:rPr>
              <a:t>Level 5  </a:t>
            </a:r>
            <a:r>
              <a:rPr sz="1900">
                <a:solidFill>
                  <a:srgbClr val="CDD6F4"/>
                </a:solidFill>
                <a:latin typeface="JetBrains Mono"/>
              </a:rPr>
              <a:t>Zero Touch — issue → merged PR, fully automated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640080"/>
          </a:xfrm>
          <a:prstGeom prst="rect">
            <a:avLst/>
          </a:prstGeom>
          <a:noFill/>
        </p:spPr>
        <p:txBody>
          <a:bodyPr wrap="square">
            <a:spAutoFit/>
          </a:bodyPr>
          <a:lstStyle/>
          <a:p>
            <a:pPr algn="l">
              <a:defRPr sz="2800" b="1">
                <a:solidFill>
                  <a:srgbClr val="CDD6F4"/>
                </a:solidFill>
                <a:latin typeface="JetBrains Mono"/>
              </a:defRPr>
            </a:pPr>
            <a:r>
              <a:t>Resources &amp; Next Steps</a:t>
            </a:r>
          </a:p>
        </p:txBody>
      </p:sp>
      <p:sp>
        <p:nvSpPr>
          <p:cNvPr id="4" name="Rectangle 3"/>
          <p:cNvSpPr/>
          <p:nvPr/>
        </p:nvSpPr>
        <p:spPr>
          <a:xfrm>
            <a:off x="548640" y="960120"/>
            <a:ext cx="2743200" cy="36576"/>
          </a:xfrm>
          <a:prstGeom prst="rect">
            <a:avLst/>
          </a:prstGeom>
          <a:solidFill>
            <a:srgbClr val="F2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3657600"/>
          </a:xfrm>
          <a:prstGeom prst="rect">
            <a:avLst/>
          </a:prstGeom>
          <a:noFill/>
        </p:spPr>
        <p:txBody>
          <a:bodyPr wrap="square">
            <a:spAutoFit/>
          </a:bodyPr>
          <a:lstStyle/>
          <a:p>
            <a:pPr>
              <a:spcAft>
                <a:spcPts val="1800"/>
              </a:spcAft>
            </a:pPr>
            <a:r>
              <a:rPr sz="1800" b="1">
                <a:solidFill>
                  <a:srgbClr val="F2CDCD"/>
                </a:solidFill>
                <a:latin typeface="JetBrains Mono"/>
              </a:rPr>
              <a:t>• </a:t>
            </a:r>
            <a:r>
              <a:rPr sz="1800">
                <a:solidFill>
                  <a:srgbClr val="CDD6F4"/>
                </a:solidFill>
                <a:latin typeface="JetBrains Mono"/>
              </a:rPr>
              <a:t>Claude Code docs: docs.anthropic.com</a:t>
            </a:r>
          </a:p>
          <a:p>
            <a:pPr>
              <a:spcAft>
                <a:spcPts val="1800"/>
              </a:spcAft>
            </a:pPr>
            <a:r>
              <a:rPr sz="1800" b="1">
                <a:solidFill>
                  <a:srgbClr val="F2CDCD"/>
                </a:solidFill>
                <a:latin typeface="JetBrains Mono"/>
              </a:rPr>
              <a:t>• </a:t>
            </a:r>
            <a:r>
              <a:rPr sz="1800">
                <a:solidFill>
                  <a:srgbClr val="CDD6F4"/>
                </a:solidFill>
                <a:latin typeface="JetBrains Mono"/>
              </a:rPr>
              <a:t>This repo: explore .claude/commands/ for all 27 commands</a:t>
            </a:r>
          </a:p>
          <a:p>
            <a:pPr>
              <a:spcAft>
                <a:spcPts val="1800"/>
              </a:spcAft>
            </a:pPr>
            <a:r>
              <a:rPr sz="1800" b="1">
                <a:solidFill>
                  <a:srgbClr val="F2CDCD"/>
                </a:solidFill>
                <a:latin typeface="JetBrains Mono"/>
              </a:rPr>
              <a:t>• </a:t>
            </a:r>
            <a:r>
              <a:rPr sz="1800">
                <a:solidFill>
                  <a:srgbClr val="CDD6F4"/>
                </a:solidFill>
                <a:latin typeface="JetBrains Mono"/>
              </a:rPr>
              <a:t>ADW docs: adws/README.md</a:t>
            </a:r>
          </a:p>
          <a:p>
            <a:pPr>
              <a:spcAft>
                <a:spcPts val="1800"/>
              </a:spcAft>
            </a:pPr>
            <a:r>
              <a:rPr sz="1800" b="1">
                <a:solidFill>
                  <a:srgbClr val="F2CDCD"/>
                </a:solidFill>
                <a:latin typeface="JetBrains Mono"/>
              </a:rPr>
              <a:t>• </a:t>
            </a:r>
            <a:r>
              <a:rPr sz="1800">
                <a:solidFill>
                  <a:srgbClr val="CDD6F4"/>
                </a:solidFill>
                <a:latin typeface="JetBrains Mono"/>
              </a:rPr>
              <a:t>Feedback &amp; issues: github.com/anthropics/claude-code/issues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914400"/>
          </a:xfrm>
          <a:prstGeom prst="rect">
            <a:avLst/>
          </a:prstGeom>
          <a:noFill/>
        </p:spPr>
        <p:txBody>
          <a:bodyPr wrap="square">
            <a:spAutoFit/>
          </a:bodyPr>
          <a:lstStyle/>
          <a:p>
            <a:pPr algn="ctr">
              <a:defRPr sz="4800" b="1">
                <a:solidFill>
                  <a:srgbClr val="CDD6F4"/>
                </a:solidFill>
                <a:latin typeface="JetBrains Mono"/>
              </a:defRPr>
            </a:pPr>
            <a:r>
              <a:t>Thank You!</a:t>
            </a:r>
          </a:p>
        </p:txBody>
      </p:sp>
      <p:sp>
        <p:nvSpPr>
          <p:cNvPr id="5" name="TextBox 4"/>
          <p:cNvSpPr txBox="1"/>
          <p:nvPr/>
        </p:nvSpPr>
        <p:spPr>
          <a:xfrm>
            <a:off x="914400" y="3474720"/>
            <a:ext cx="10058400" cy="548640"/>
          </a:xfrm>
          <a:prstGeom prst="rect">
            <a:avLst/>
          </a:prstGeom>
          <a:noFill/>
        </p:spPr>
        <p:txBody>
          <a:bodyPr wrap="square">
            <a:spAutoFit/>
          </a:bodyPr>
          <a:lstStyle/>
          <a:p>
            <a:pPr algn="ctr">
              <a:defRPr sz="2800" b="0">
                <a:solidFill>
                  <a:srgbClr val="CBA6F7"/>
                </a:solidFill>
                <a:latin typeface="JetBrains Mono"/>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